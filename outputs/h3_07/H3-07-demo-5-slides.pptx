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d86b0e18c64c57" /><Relationship Type="http://schemas.openxmlformats.org/officeDocument/2006/relationships/extended-properties" Target="/docProps/app.xml" Id="Rcc61888f1f414b3e" /><Relationship Type="http://schemas.openxmlformats.org/officeDocument/2006/relationships/officeDocument" Target="/ppt/presentation.xml" Id="R4cbf45d44f494f7e" /></Relationships>
</file>

<file path=ppt/presentation.xml><?xml version="1.0" encoding="utf-8"?>
<p:presentation xmlns:p="http://schemas.openxmlformats.org/presentationml/2006/main">
  <p:sldMasterIdLst>
    <p:sldMasterId xmlns:r="http://schemas.openxmlformats.org/officeDocument/2006/relationships" id="2147483648" r:id="R3fb43ae9f2644efd"/>
  </p:sldMasterIdLst>
  <p:notesMasterIdLst>
    <p:notesMasterId xmlns:r="http://schemas.openxmlformats.org/officeDocument/2006/relationships" r:id="R5fd552e868fa42ae"/>
  </p:notesMasterIdLst>
  <p:sldIdLst>
    <p:sldId xmlns:r="http://schemas.openxmlformats.org/officeDocument/2006/relationships" id="256" r:id="Reb5ff5a84d544ca3"/>
    <p:sldId xmlns:r="http://schemas.openxmlformats.org/officeDocument/2006/relationships" id="257" r:id="R70ed0e145f4c4534"/>
    <p:sldId xmlns:r="http://schemas.openxmlformats.org/officeDocument/2006/relationships" id="258" r:id="R6eab0b59b6854756"/>
    <p:sldId xmlns:r="http://schemas.openxmlformats.org/officeDocument/2006/relationships" id="259" r:id="R85f8efb841c549d5"/>
    <p:sldId xmlns:r="http://schemas.openxmlformats.org/officeDocument/2006/relationships" id="260" r:id="R4149e1d6608a446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fb43ae9f2644efd" /><Relationship Type="http://schemas.openxmlformats.org/officeDocument/2006/relationships/theme" Target="/ppt/theme/theme1.xml" Id="R59faad673a524a36" /><Relationship Type="http://schemas.openxmlformats.org/officeDocument/2006/relationships/notesMaster" Target="/ppt/notesMasters/notesMaster1.xml" Id="R5fd552e868fa42ae" /><Relationship Type="http://schemas.openxmlformats.org/officeDocument/2006/relationships/presProps" Target="/ppt/presProps.xml" Id="R6e7b9dfa667b455a" /><Relationship Type="http://schemas.openxmlformats.org/officeDocument/2006/relationships/viewProps" Target="/ppt/viewProps.xml" Id="R094a73f7a9154aff" /><Relationship Type="http://schemas.openxmlformats.org/officeDocument/2006/relationships/tableStyles" Target="/ppt/tableStyles.xml" Id="R7b1b983bbe7641af" /><Relationship Type="http://schemas.openxmlformats.org/officeDocument/2006/relationships/slide" Target="/ppt/slides/slide1.xml" Id="Reb5ff5a84d544ca3" /><Relationship Type="http://schemas.openxmlformats.org/officeDocument/2006/relationships/slide" Target="/ppt/slides/slide2.xml" Id="R70ed0e145f4c4534" /><Relationship Type="http://schemas.openxmlformats.org/officeDocument/2006/relationships/slide" Target="/ppt/slides/slide3.xml" Id="R6eab0b59b6854756" /><Relationship Type="http://schemas.openxmlformats.org/officeDocument/2006/relationships/slide" Target="/ppt/slides/slide4.xml" Id="R85f8efb841c549d5" /><Relationship Type="http://schemas.openxmlformats.org/officeDocument/2006/relationships/slide" Target="/ppt/slides/slide5.xml" Id="R4149e1d6608a44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ad0b3d649fa41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a9019fc89d41b6" /><Relationship Type="http://schemas.openxmlformats.org/officeDocument/2006/relationships/notesMaster" Target="/ppt/notesMasters/notesMaster1.xml" Id="R015034f551c14a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c3321cd0cd4978" /><Relationship Type="http://schemas.openxmlformats.org/officeDocument/2006/relationships/notesMaster" Target="/ppt/notesMasters/notesMaster1.xml" Id="Rcddf678d123c4c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a0add8e3904198" /><Relationship Type="http://schemas.openxmlformats.org/officeDocument/2006/relationships/notesMaster" Target="/ppt/notesMasters/notesMaster1.xml" Id="R0b1f50f81b9347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92e3cfbe8f46b8" /><Relationship Type="http://schemas.openxmlformats.org/officeDocument/2006/relationships/notesMaster" Target="/ppt/notesMasters/notesMaster1.xml" Id="Radf698cbc08644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b40d9ed38a4b85" /><Relationship Type="http://schemas.openxmlformats.org/officeDocument/2006/relationships/notesMaster" Target="/ppt/notesMasters/notesMaster1.xml" Id="R8e11b8425fa640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0:00–1:30. Mở đầu bằng thông điệp, không liệt kê tính năng. Nói rõ năm tenant đang chạy: MIMA, phòng khám, bất động sản, giáo dục, thực phẩm. Giá trị là onboard tenant tiếp theo mà không sửa core.</a:t>
            </a:r>
          </a:p>
          <a:p xmlns:a="http://schemas.openxmlformats.org/drawingml/2006/main">
            <a:r>
              <a:t/>
            </a:r>
          </a:p>
          <a:p xmlns:a="http://schemas.openxmlformats.org/drawingml/2006/main">
            <a:r>
              <a:t>[Sources]</a:t>
            </a:r>
          </a:p>
          <a:p xmlns:a="http://schemas.openxmlformats.org/drawingml/2006/main">
            <a:r>
              <a:t>- H3-01 — outputs/h3_01/onboarding_times.csv và index_catalog.json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1:30–6:30. Demo MIMA trước, sau đó giữ nguyên endpoint và đổi public key sang phòng khám. Chỉ vào reply, sources và tenant trong request. Kết luận: khác tenant không đồng nghĩa khác codebase.</a:t>
            </a:r>
          </a:p>
          <a:p xmlns:a="http://schemas.openxmlformats.org/drawingml/2006/main">
            <a:r>
              <a:t/>
            </a:r>
          </a:p>
          <a:p xmlns:a="http://schemas.openxmlformats.org/drawingml/2006/main">
            <a:r>
              <a:t>[Sources]</a:t>
            </a:r>
          </a:p>
          <a:p xmlns:a="http://schemas.openxmlformats.org/drawingml/2006/main">
            <a:r>
              <a:t>- H3-01 — outputs/h3_01/onboarding_times.csv và index_catalog.json</a:t>
            </a:r>
          </a:p>
          <a:p xmlns:a="http://schemas.openxmlformats.org/drawingml/2006/main">
            <a:r>
              <a:t>- contract.md và API /chat H3-05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6:30–10:30. Demo tra tên miền, nói rõ nếu kết quả hiện là mô phỏng. Sau đó nhập câu bẫy yêu cầu lộ prompt và cam kết top 3. Không đi sâu regex/prompt; chốt rằng lớp kiểm duyệt chung bảo vệ mọi tenant.</a:t>
            </a:r>
          </a:p>
          <a:p xmlns:a="http://schemas.openxmlformats.org/drawingml/2006/main">
            <a:r>
              <a:t/>
            </a:r>
          </a:p>
          <a:p xmlns:a="http://schemas.openxmlformats.org/drawingml/2006/main">
            <a:r>
              <a:t>[Sources]</a:t>
            </a:r>
          </a:p>
          <a:p xmlns:a="http://schemas.openxmlformats.org/drawingml/2006/main">
            <a:r>
              <a:t>- H2-03 — 30/30 trap case bị chặn và chuyển người</a:t>
            </a:r>
          </a:p>
          <a:p xmlns:a="http://schemas.openxmlformats.org/drawingml/2006/main">
            <a:r>
              <a:t>- contract.md và API /chat H3-05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10:30–13:00. Chỉ báo đúng bốn số. Nêu minh bạch auto-routing giảm 22,95% chi phí so với strong-all, chưa đạt mục tiêu riêng 30% của H2-09; chất lượng tăng 5,08 điểm phần trăm.</a:t>
            </a:r>
          </a:p>
          <a:p xmlns:a="http://schemas.openxmlformats.org/drawingml/2006/main">
            <a:r>
              <a:t/>
            </a:r>
          </a:p>
          <a:p xmlns:a="http://schemas.openxmlformats.org/drawingml/2006/main">
            <a:r>
              <a:t>[Sources]</a:t>
            </a:r>
          </a:p>
          <a:p xmlns:a="http://schemas.openxmlformats.org/drawingml/2006/main">
            <a:r>
              <a:t>- H3-01 — outputs/h3_01/onboarding_times.csv và index_catalog.json</a:t>
            </a:r>
          </a:p>
          <a:p xmlns:a="http://schemas.openxmlformats.org/drawingml/2006/main">
            <a:r>
              <a:t>- H2-09 — routed run 20260821T062712.308909Z, dataset 60 câu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13:00–15:00. Phân biệt rõ demo và production. Kết bằng câu: giá trị không nằm ở năm bot; giá trị nằm ở khả năng onboard khách hàng tiếp theo mà không sửa AI core.</a:t>
            </a:r>
          </a:p>
          <a:p xmlns:a="http://schemas.openxmlformats.org/drawingml/2006/main">
            <a:r>
              <a:t/>
            </a:r>
          </a:p>
          <a:p xmlns:a="http://schemas.openxmlformats.org/drawingml/2006/main">
            <a:r>
              <a:t>[Sources]</a:t>
            </a:r>
          </a:p>
          <a:p xmlns:a="http://schemas.openxmlformats.org/drawingml/2006/main">
            <a:r>
              <a:t>- H3-01 — outputs/h3_01/onboarding_times.csv và index_catalog.json</a:t>
            </a:r>
          </a:p>
          <a:p xmlns:a="http://schemas.openxmlformats.org/drawingml/2006/main">
            <a:r>
              <a:t>- contract.md và API /chat H3-05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066bfff6b04994"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DC85E521-823B-4BD6-B3B8-0BA488A29C99}"/>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DB1C878C-7DA0-463D-B7BF-8DD938F84599}"/>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6BB61A03-5BB6-4BDF-80BA-A50560393A42}"/>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4A43FC96-4068-4C36-BCD5-684AF9F48F88}"/>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DF215A9A-F53D-4EB9-8ECF-E78074967B2A}"/>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8322325b8d3461e" /><Relationship Type="http://schemas.openxmlformats.org/officeDocument/2006/relationships/slideLayout" Target="/ppt/slideLayouts/slideLayout2.xml" Id="R1b5e9a02f9a942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D6C855D-B2DB-4E54-BB7E-35E4F2891C84}"/>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5e9a02f9a942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3643cfec98b42e1" /><Relationship Type="http://schemas.openxmlformats.org/officeDocument/2006/relationships/image" Target="/ppt/media/image.png" Id="R3ffdcf7c86c244f9" /><Relationship Type="http://schemas.openxmlformats.org/officeDocument/2006/relationships/notesSlide" Target="/ppt/notesSlides/notesSlide1.xml" Id="R20db40285fbf4c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74778e67e314af2" /><Relationship Type="http://schemas.openxmlformats.org/officeDocument/2006/relationships/image" Target="/ppt/media/image2.png" Id="R066c0aaede9247d9" /><Relationship Type="http://schemas.openxmlformats.org/officeDocument/2006/relationships/notesSlide" Target="/ppt/notesSlides/notesSlide2.xml" Id="R3bcea0f7f5604b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c27962e74f442e9" /><Relationship Type="http://schemas.openxmlformats.org/officeDocument/2006/relationships/image" Target="/ppt/media/image3.png" Id="Rf40c1d6c52b24ecd" /><Relationship Type="http://schemas.openxmlformats.org/officeDocument/2006/relationships/notesSlide" Target="/ppt/notesSlides/notesSlide3.xml" Id="R40b0fa4b5cb442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bde3a77c03647e1" /><Relationship Type="http://schemas.openxmlformats.org/officeDocument/2006/relationships/image" Target="/ppt/media/image4.png" Id="R312035d29e5b4f9e" /><Relationship Type="http://schemas.openxmlformats.org/officeDocument/2006/relationships/notesSlide" Target="/ppt/notesSlides/notesSlide4.xml" Id="R7ac4e78fd7fe49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6a2e3b74ab24506" /><Relationship Type="http://schemas.openxmlformats.org/officeDocument/2006/relationships/image" Target="/ppt/media/image5.png" Id="R7782ba0bd0cb4287" /><Relationship Type="http://schemas.openxmlformats.org/officeDocument/2006/relationships/notesSlide" Target="/ppt/notesSlides/notesSlide5.xml" Id="Rca4a3895c2274495" /></Relationships>
</file>

<file path=ppt/slides/slide1.xml><?xml version="1.0" encoding="utf-8"?>
<p:sld xmlns:p="http://schemas.openxmlformats.org/presentationml/2006/main">
  <p:cSld>
    <p:bg>
      <p:bgPr>
        <a:solidFill xmlns:a="http://schemas.openxmlformats.org/drawingml/2006/main">
          <a:srgbClr val="F5F3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DF215A9A-F53D-4EB9-8ECF-E78074967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ffdcf7c86c244f9"/>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E2953E-82A6-496D-8D72-FE7591E3CC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80000"/>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04B298E-3DC5-46FB-8363-3E4869CBB4D2}"/>
              </a:ext>
            </a:extLst>
          </p:cNvPr>
          <p:cNvSpPr>
            <a:spLocks xmlns:a="http://schemas.openxmlformats.org/drawingml/2006/main" noGrp="1"/>
          </p:cNvSpPr>
          <p:nvPr/>
        </p:nvSpPr>
        <p:spPr>
          <a:xfrm xmlns:a="http://schemas.openxmlformats.org/drawingml/2006/main">
            <a:off x="609600" y="819150"/>
            <a:ext cx="66675" cy="4333875"/>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CD0A3B5-E79C-4066-8583-57D21C0EA066}"/>
              </a:ext>
            </a:extLst>
          </p:cNvPr>
          <p:cNvSpPr>
            <a:spLocks xmlns:a="http://schemas.openxmlformats.org/drawingml/2006/main" noGrp="1"/>
          </p:cNvSpPr>
          <p:nvPr/>
        </p:nvSpPr>
        <p:spPr>
          <a:xfrm xmlns:a="http://schemas.openxmlformats.org/drawingml/2006/main">
            <a:off x="819150" y="83820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B2ECC"/>
                </a:solidFill>
              </a:defRPr>
            </a:pPr>
            <a:r>
              <a:rPr sz="975" b="1">
                <a:solidFill>
                  <a:srgbClr val="4B2ECC"/>
                </a:solidFill>
              </a:rPr>
              <a:t>H3-07 • DEMO 15 PHÚT</a:t>
            </a:r>
          </a:p>
        </p:txBody>
      </p:sp>
      <p:sp>
        <p:nvSpPr>
          <p:cNvPr id="6" name="">
            <a:extLst xmlns:a="http://schemas.openxmlformats.org/drawingml/2006/main">
              <a:ext uri="{FF2B5EF4-FFF2-40B4-BE49-F238E27FC236}">
                <a16:creationId xmlns:a16="http://schemas.microsoft.com/office/drawing/2014/main" id="{66DA370D-703E-46F0-9A96-7AD44DE1348F}"/>
              </a:ext>
            </a:extLst>
          </p:cNvPr>
          <p:cNvSpPr>
            <a:spLocks xmlns:a="http://schemas.openxmlformats.org/drawingml/2006/main" noGrp="1"/>
          </p:cNvSpPr>
          <p:nvPr/>
        </p:nvSpPr>
        <p:spPr>
          <a:xfrm xmlns:a="http://schemas.openxmlformats.org/drawingml/2006/main">
            <a:off x="781050" y="1238250"/>
            <a:ext cx="7477125" cy="1752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172033"/>
                </a:solidFill>
              </a:defRPr>
            </a:pPr>
            <a:r>
              <a:rPr sz="3600" b="1">
                <a:solidFill>
                  <a:srgbClr val="172033"/>
                </a:solidFill>
              </a:rPr>
              <a:t>Một AI core.</a:t>
            </a:r>
          </a:p>
          <a:p xmlns:a="http://schemas.openxmlformats.org/drawingml/2006/main">
            <a:pPr algn="l">
              <a:defRPr sz="3600" b="1">
                <a:solidFill>
                  <a:srgbClr val="172033"/>
                </a:solidFill>
              </a:defRPr>
            </a:pPr>
            <a:r>
              <a:rPr sz="3600" b="1">
                <a:solidFill>
                  <a:srgbClr val="172033"/>
                </a:solidFill>
              </a:rPr>
              <a:t>Nhiều khách hàng.</a:t>
            </a:r>
          </a:p>
        </p:txBody>
      </p:sp>
      <p:sp>
        <p:nvSpPr>
          <p:cNvPr id="7" name="">
            <a:extLst xmlns:a="http://schemas.openxmlformats.org/drawingml/2006/main">
              <a:ext uri="{FF2B5EF4-FFF2-40B4-BE49-F238E27FC236}">
                <a16:creationId xmlns:a16="http://schemas.microsoft.com/office/drawing/2014/main" id="{9FDE55CA-888D-42B3-BD7A-CD6E7608FAAA}"/>
              </a:ext>
            </a:extLst>
          </p:cNvPr>
          <p:cNvSpPr>
            <a:spLocks xmlns:a="http://schemas.openxmlformats.org/drawingml/2006/main" noGrp="1"/>
          </p:cNvSpPr>
          <p:nvPr/>
        </p:nvSpPr>
        <p:spPr>
          <a:xfrm xmlns:a="http://schemas.openxmlformats.org/drawingml/2006/main">
            <a:off x="819150" y="3105150"/>
            <a:ext cx="5810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D465B"/>
                </a:solidFill>
              </a:defRPr>
            </a:pPr>
            <a:r>
              <a:rPr sz="1500" b="0">
                <a:solidFill>
                  <a:srgbClr val="3D465B"/>
                </a:solidFill>
              </a:rPr>
              <a:t>Khác ngành bằng config và tri thức riêng — không viết lại hệ thống.</a:t>
            </a:r>
          </a:p>
        </p:txBody>
      </p:sp>
      <p:sp>
        <p:nvSpPr>
          <p:cNvPr id="8" name="">
            <a:extLst xmlns:a="http://schemas.openxmlformats.org/drawingml/2006/main">
              <a:ext uri="{FF2B5EF4-FFF2-40B4-BE49-F238E27FC236}">
                <a16:creationId xmlns:a16="http://schemas.microsoft.com/office/drawing/2014/main" id="{87C3C71A-A932-415E-8FC9-48748E5724A2}"/>
              </a:ext>
            </a:extLst>
          </p:cNvPr>
          <p:cNvSpPr>
            <a:spLocks xmlns:a="http://schemas.openxmlformats.org/drawingml/2006/main" noGrp="1"/>
          </p:cNvSpPr>
          <p:nvPr/>
        </p:nvSpPr>
        <p:spPr>
          <a:xfrm xmlns:a="http://schemas.openxmlformats.org/drawingml/2006/main">
            <a:off x="819150" y="4343400"/>
            <a:ext cx="3714750" cy="876300"/>
          </a:xfrm>
          <a:prstGeom xmlns:a="http://schemas.openxmlformats.org/drawingml/2006/main" prst="roundRect">
            <a:avLst>
              <a:gd name="adj" fmla="val 8696"/>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9" name="">
            <a:extLst xmlns:a="http://schemas.openxmlformats.org/drawingml/2006/main">
              <a:ext uri="{FF2B5EF4-FFF2-40B4-BE49-F238E27FC236}">
                <a16:creationId xmlns:a16="http://schemas.microsoft.com/office/drawing/2014/main" id="{40601F42-F956-40BF-9B49-04271B912F7F}"/>
              </a:ext>
            </a:extLst>
          </p:cNvPr>
          <p:cNvSpPr>
            <a:spLocks xmlns:a="http://schemas.openxmlformats.org/drawingml/2006/main" noGrp="1"/>
          </p:cNvSpPr>
          <p:nvPr/>
        </p:nvSpPr>
        <p:spPr>
          <a:xfrm xmlns:a="http://schemas.openxmlformats.org/drawingml/2006/main">
            <a:off x="1066800" y="4552950"/>
            <a:ext cx="3200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72033"/>
                </a:solidFill>
              </a:defRPr>
            </a:pPr>
            <a:r>
              <a:rPr sz="1725" b="1">
                <a:solidFill>
                  <a:srgbClr val="172033"/>
                </a:solidFill>
              </a:rPr>
              <a:t>5 tenant • 5 ngành • 1 hệ thống</a:t>
            </a:r>
          </a:p>
        </p:txBody>
      </p:sp>
      <p:sp>
        <p:nvSpPr>
          <p:cNvPr id="10" name="">
            <a:extLst xmlns:a="http://schemas.openxmlformats.org/drawingml/2006/main">
              <a:ext uri="{FF2B5EF4-FFF2-40B4-BE49-F238E27FC236}">
                <a16:creationId xmlns:a16="http://schemas.microsoft.com/office/drawing/2014/main" id="{C78E5622-4161-45EB-8FA6-AA934AC25B2E}"/>
              </a:ext>
            </a:extLst>
          </p:cNvPr>
          <p:cNvSpPr>
            <a:spLocks xmlns:a="http://schemas.openxmlformats.org/drawingml/2006/main" noGrp="1"/>
          </p:cNvSpPr>
          <p:nvPr/>
        </p:nvSpPr>
        <p:spPr>
          <a:xfrm xmlns:a="http://schemas.openxmlformats.org/drawingml/2006/main">
            <a:off x="8858250" y="2628900"/>
            <a:ext cx="1619250" cy="1619250"/>
          </a:xfrm>
          <a:prstGeom xmlns:a="http://schemas.openxmlformats.org/drawingml/2006/main" prst="ellipse">
            <a:avLst/>
          </a:prstGeom>
          <a:solidFill xmlns:a="http://schemas.openxmlformats.org/drawingml/2006/main">
            <a:srgbClr val="FFFFFF"/>
          </a:solidFill>
          <a:ln xmlns:a="http://schemas.openxmlformats.org/drawingml/2006/main" w="47625">
            <a:solidFill>
              <a:srgbClr val="6D4AFF"/>
            </a:solidFill>
            <a:prstDash val="solid"/>
          </a:ln>
        </p:spPr>
      </p:sp>
      <p:sp>
        <p:nvSpPr>
          <p:cNvPr id="11" name="">
            <a:extLst xmlns:a="http://schemas.openxmlformats.org/drawingml/2006/main">
              <a:ext uri="{FF2B5EF4-FFF2-40B4-BE49-F238E27FC236}">
                <a16:creationId xmlns:a16="http://schemas.microsoft.com/office/drawing/2014/main" id="{B1759799-D707-4AD5-BF2D-F8521CDDB442}"/>
              </a:ext>
            </a:extLst>
          </p:cNvPr>
          <p:cNvSpPr>
            <a:spLocks xmlns:a="http://schemas.openxmlformats.org/drawingml/2006/main" noGrp="1"/>
          </p:cNvSpPr>
          <p:nvPr/>
        </p:nvSpPr>
        <p:spPr>
          <a:xfrm xmlns:a="http://schemas.openxmlformats.org/drawingml/2006/main">
            <a:off x="9239250" y="3028950"/>
            <a:ext cx="8572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172033"/>
                </a:solidFill>
              </a:defRPr>
            </a:pPr>
            <a:r>
              <a:rPr sz="2100" b="1">
                <a:solidFill>
                  <a:srgbClr val="172033"/>
                </a:solidFill>
              </a:rPr>
              <a:t>AI</a:t>
            </a:r>
          </a:p>
          <a:p xmlns:a="http://schemas.openxmlformats.org/drawingml/2006/main">
            <a:pPr algn="ctr">
              <a:defRPr sz="2100" b="1">
                <a:solidFill>
                  <a:srgbClr val="172033"/>
                </a:solidFill>
              </a:defRPr>
            </a:pPr>
            <a:r>
              <a:rPr sz="2100" b="1">
                <a:solidFill>
                  <a:srgbClr val="172033"/>
                </a:solidFill>
              </a:rPr>
              <a:t>CORE</a:t>
            </a:r>
          </a:p>
        </p:txBody>
      </p:sp>
      <p:sp>
        <p:nvSpPr>
          <p:cNvPr id="12" name="">
            <a:extLst xmlns:a="http://schemas.openxmlformats.org/drawingml/2006/main">
              <a:ext uri="{FF2B5EF4-FFF2-40B4-BE49-F238E27FC236}">
                <a16:creationId xmlns:a16="http://schemas.microsoft.com/office/drawing/2014/main" id="{98D86F2B-CFA7-40A0-A335-D671DAE9E19C}"/>
              </a:ext>
            </a:extLst>
          </p:cNvPr>
          <p:cNvSpPr>
            <a:spLocks xmlns:a="http://schemas.openxmlformats.org/drawingml/2006/main" noGrp="1"/>
          </p:cNvSpPr>
          <p:nvPr/>
        </p:nvSpPr>
        <p:spPr>
          <a:xfrm xmlns:a="http://schemas.openxmlformats.org/drawingml/2006/main">
            <a:off x="7286625" y="1143000"/>
            <a:ext cx="11906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28575">
            <a:solidFill>
              <a:srgbClr val="6D4AFF"/>
            </a:solidFill>
            <a:prstDash val="solid"/>
          </a:ln>
        </p:spPr>
      </p:sp>
      <p:sp>
        <p:nvSpPr>
          <p:cNvPr id="13" name="">
            <a:extLst xmlns:a="http://schemas.openxmlformats.org/drawingml/2006/main">
              <a:ext uri="{FF2B5EF4-FFF2-40B4-BE49-F238E27FC236}">
                <a16:creationId xmlns:a16="http://schemas.microsoft.com/office/drawing/2014/main" id="{64E17BF5-59AB-466A-AF1E-E90A8C4FF12D}"/>
              </a:ext>
            </a:extLst>
          </p:cNvPr>
          <p:cNvSpPr>
            <a:spLocks xmlns:a="http://schemas.openxmlformats.org/drawingml/2006/main" noGrp="1"/>
          </p:cNvSpPr>
          <p:nvPr/>
        </p:nvSpPr>
        <p:spPr>
          <a:xfrm xmlns:a="http://schemas.openxmlformats.org/drawingml/2006/main">
            <a:off x="7381875" y="1333500"/>
            <a:ext cx="1000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72033"/>
                </a:solidFill>
              </a:defRPr>
            </a:pPr>
            <a:r>
              <a:rPr sz="1050" b="1">
                <a:solidFill>
                  <a:srgbClr val="172033"/>
                </a:solidFill>
              </a:rPr>
              <a:t>MIMA</a:t>
            </a:r>
          </a:p>
        </p:txBody>
      </p:sp>
      <p:sp>
        <p:nvSpPr>
          <p:cNvPr id="14" name="">
            <a:extLst xmlns:a="http://schemas.openxmlformats.org/drawingml/2006/main">
              <a:ext uri="{FF2B5EF4-FFF2-40B4-BE49-F238E27FC236}">
                <a16:creationId xmlns:a16="http://schemas.microsoft.com/office/drawing/2014/main" id="{693231A8-10DD-49DE-B771-845ADABB7242}"/>
              </a:ext>
            </a:extLst>
          </p:cNvPr>
          <p:cNvSpPr>
            <a:spLocks xmlns:a="http://schemas.openxmlformats.org/drawingml/2006/main" noGrp="1"/>
          </p:cNvSpPr>
          <p:nvPr/>
        </p:nvSpPr>
        <p:spPr>
          <a:xfrm xmlns:a="http://schemas.openxmlformats.org/drawingml/2006/main">
            <a:off x="9982200" y="1009650"/>
            <a:ext cx="11906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28575">
            <a:solidFill>
              <a:srgbClr val="FF7A59"/>
            </a:solidFill>
            <a:prstDash val="solid"/>
          </a:ln>
        </p:spPr>
      </p:sp>
      <p:sp>
        <p:nvSpPr>
          <p:cNvPr id="15" name="">
            <a:extLst xmlns:a="http://schemas.openxmlformats.org/drawingml/2006/main">
              <a:ext uri="{FF2B5EF4-FFF2-40B4-BE49-F238E27FC236}">
                <a16:creationId xmlns:a16="http://schemas.microsoft.com/office/drawing/2014/main" id="{2760E3AE-9BFA-423E-AC7D-71E3D9C1F142}"/>
              </a:ext>
            </a:extLst>
          </p:cNvPr>
          <p:cNvSpPr>
            <a:spLocks xmlns:a="http://schemas.openxmlformats.org/drawingml/2006/main" noGrp="1"/>
          </p:cNvSpPr>
          <p:nvPr/>
        </p:nvSpPr>
        <p:spPr>
          <a:xfrm xmlns:a="http://schemas.openxmlformats.org/drawingml/2006/main">
            <a:off x="10077450" y="1200150"/>
            <a:ext cx="1000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72033"/>
                </a:solidFill>
              </a:defRPr>
            </a:pPr>
            <a:r>
              <a:rPr sz="1050" b="1">
                <a:solidFill>
                  <a:srgbClr val="172033"/>
                </a:solidFill>
              </a:rPr>
              <a:t>Y TẾ</a:t>
            </a:r>
          </a:p>
        </p:txBody>
      </p:sp>
      <p:sp>
        <p:nvSpPr>
          <p:cNvPr id="16" name="">
            <a:extLst xmlns:a="http://schemas.openxmlformats.org/drawingml/2006/main">
              <a:ext uri="{FF2B5EF4-FFF2-40B4-BE49-F238E27FC236}">
                <a16:creationId xmlns:a16="http://schemas.microsoft.com/office/drawing/2014/main" id="{E4F6B842-4064-4FE2-B9A6-2B3AA9E39FCA}"/>
              </a:ext>
            </a:extLst>
          </p:cNvPr>
          <p:cNvSpPr>
            <a:spLocks xmlns:a="http://schemas.openxmlformats.org/drawingml/2006/main" noGrp="1"/>
          </p:cNvSpPr>
          <p:nvPr/>
        </p:nvSpPr>
        <p:spPr>
          <a:xfrm xmlns:a="http://schemas.openxmlformats.org/drawingml/2006/main">
            <a:off x="10810875" y="2762250"/>
            <a:ext cx="11906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28575">
            <a:solidFill>
              <a:srgbClr val="16B8A6"/>
            </a:solidFill>
            <a:prstDash val="solid"/>
          </a:ln>
        </p:spPr>
      </p:sp>
      <p:sp>
        <p:nvSpPr>
          <p:cNvPr id="17" name="">
            <a:extLst xmlns:a="http://schemas.openxmlformats.org/drawingml/2006/main">
              <a:ext uri="{FF2B5EF4-FFF2-40B4-BE49-F238E27FC236}">
                <a16:creationId xmlns:a16="http://schemas.microsoft.com/office/drawing/2014/main" id="{79A9F91F-EB2B-4757-88D9-3610A26B67CF}"/>
              </a:ext>
            </a:extLst>
          </p:cNvPr>
          <p:cNvSpPr>
            <a:spLocks xmlns:a="http://schemas.openxmlformats.org/drawingml/2006/main" noGrp="1"/>
          </p:cNvSpPr>
          <p:nvPr/>
        </p:nvSpPr>
        <p:spPr>
          <a:xfrm xmlns:a="http://schemas.openxmlformats.org/drawingml/2006/main">
            <a:off x="10906125" y="2952750"/>
            <a:ext cx="1000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72033"/>
                </a:solidFill>
              </a:defRPr>
            </a:pPr>
            <a:r>
              <a:rPr sz="1050" b="1">
                <a:solidFill>
                  <a:srgbClr val="172033"/>
                </a:solidFill>
              </a:rPr>
              <a:t>BĐS</a:t>
            </a:r>
          </a:p>
        </p:txBody>
      </p:sp>
      <p:sp>
        <p:nvSpPr>
          <p:cNvPr id="18" name="">
            <a:extLst xmlns:a="http://schemas.openxmlformats.org/drawingml/2006/main">
              <a:ext uri="{FF2B5EF4-FFF2-40B4-BE49-F238E27FC236}">
                <a16:creationId xmlns:a16="http://schemas.microsoft.com/office/drawing/2014/main" id="{C4284B6C-18B6-40EB-AB97-1C5E61AA29B8}"/>
              </a:ext>
            </a:extLst>
          </p:cNvPr>
          <p:cNvSpPr>
            <a:spLocks xmlns:a="http://schemas.openxmlformats.org/drawingml/2006/main" noGrp="1"/>
          </p:cNvSpPr>
          <p:nvPr/>
        </p:nvSpPr>
        <p:spPr>
          <a:xfrm xmlns:a="http://schemas.openxmlformats.org/drawingml/2006/main">
            <a:off x="9696450" y="4838700"/>
            <a:ext cx="11906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28575">
            <a:solidFill>
              <a:srgbClr val="6D4AFF"/>
            </a:solidFill>
            <a:prstDash val="solid"/>
          </a:ln>
        </p:spPr>
      </p:sp>
      <p:sp>
        <p:nvSpPr>
          <p:cNvPr id="19" name="">
            <a:extLst xmlns:a="http://schemas.openxmlformats.org/drawingml/2006/main">
              <a:ext uri="{FF2B5EF4-FFF2-40B4-BE49-F238E27FC236}">
                <a16:creationId xmlns:a16="http://schemas.microsoft.com/office/drawing/2014/main" id="{50D903B8-C6DD-4977-955D-3400E35C0B62}"/>
              </a:ext>
            </a:extLst>
          </p:cNvPr>
          <p:cNvSpPr>
            <a:spLocks xmlns:a="http://schemas.openxmlformats.org/drawingml/2006/main" noGrp="1"/>
          </p:cNvSpPr>
          <p:nvPr/>
        </p:nvSpPr>
        <p:spPr>
          <a:xfrm xmlns:a="http://schemas.openxmlformats.org/drawingml/2006/main">
            <a:off x="9791700" y="5029200"/>
            <a:ext cx="1000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72033"/>
                </a:solidFill>
              </a:defRPr>
            </a:pPr>
            <a:r>
              <a:rPr sz="1050" b="1">
                <a:solidFill>
                  <a:srgbClr val="172033"/>
                </a:solidFill>
              </a:rPr>
              <a:t>GIÁO DỤC</a:t>
            </a:r>
          </a:p>
        </p:txBody>
      </p:sp>
      <p:sp>
        <p:nvSpPr>
          <p:cNvPr id="20" name="">
            <a:extLst xmlns:a="http://schemas.openxmlformats.org/drawingml/2006/main">
              <a:ext uri="{FF2B5EF4-FFF2-40B4-BE49-F238E27FC236}">
                <a16:creationId xmlns:a16="http://schemas.microsoft.com/office/drawing/2014/main" id="{6046B101-2E02-44AD-B584-A098E254771B}"/>
              </a:ext>
            </a:extLst>
          </p:cNvPr>
          <p:cNvSpPr>
            <a:spLocks xmlns:a="http://schemas.openxmlformats.org/drawingml/2006/main" noGrp="1"/>
          </p:cNvSpPr>
          <p:nvPr/>
        </p:nvSpPr>
        <p:spPr>
          <a:xfrm xmlns:a="http://schemas.openxmlformats.org/drawingml/2006/main">
            <a:off x="7086600" y="4552950"/>
            <a:ext cx="119062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28575">
            <a:solidFill>
              <a:srgbClr val="16B8A6"/>
            </a:solidFill>
            <a:prstDash val="solid"/>
          </a:ln>
        </p:spPr>
      </p:sp>
      <p:sp>
        <p:nvSpPr>
          <p:cNvPr id="21" name="">
            <a:extLst xmlns:a="http://schemas.openxmlformats.org/drawingml/2006/main">
              <a:ext uri="{FF2B5EF4-FFF2-40B4-BE49-F238E27FC236}">
                <a16:creationId xmlns:a16="http://schemas.microsoft.com/office/drawing/2014/main" id="{6BAA1568-04AC-430E-A0C7-3C552D0115CF}"/>
              </a:ext>
            </a:extLst>
          </p:cNvPr>
          <p:cNvSpPr>
            <a:spLocks xmlns:a="http://schemas.openxmlformats.org/drawingml/2006/main" noGrp="1"/>
          </p:cNvSpPr>
          <p:nvPr/>
        </p:nvSpPr>
        <p:spPr>
          <a:xfrm xmlns:a="http://schemas.openxmlformats.org/drawingml/2006/main">
            <a:off x="7181850" y="4743450"/>
            <a:ext cx="100012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72033"/>
                </a:solidFill>
              </a:defRPr>
            </a:pPr>
            <a:r>
              <a:rPr sz="1050" b="1">
                <a:solidFill>
                  <a:srgbClr val="172033"/>
                </a:solidFill>
              </a:rPr>
              <a:t>THỰC PHẨM</a:t>
            </a:r>
          </a:p>
        </p:txBody>
      </p:sp>
      <p:sp>
        <p:nvSpPr>
          <p:cNvPr id="22" name="">
            <a:extLst xmlns:a="http://schemas.openxmlformats.org/drawingml/2006/main">
              <a:ext uri="{FF2B5EF4-FFF2-40B4-BE49-F238E27FC236}">
                <a16:creationId xmlns:a16="http://schemas.microsoft.com/office/drawing/2014/main" id="{AE2A9A8D-913F-4618-AC72-5A1CC4FC7A35}"/>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Nguồn: H3-01 — outputs/h3_01/onboarding_times.csv và index_catalog.json</a:t>
            </a:r>
          </a:p>
        </p:txBody>
      </p:sp>
    </p:spTree>
    <p:extLst>
      <p:ext uri="{BB962C8B-B14F-4D97-AF65-F5344CB8AC3E}">
        <p14:creationId xmlns:p14="http://schemas.microsoft.com/office/powerpoint/2010/main" val="1289686483"/>
      </p:ext>
    </p:extLst>
  </p:cSld>
</p:sld>
</file>

<file path=ppt/slides/slide2.xml><?xml version="1.0" encoding="utf-8"?>
<p:sld xmlns:p="http://schemas.openxmlformats.org/presentationml/2006/main">
  <p:cSld>
    <p:bg>
      <p:bgPr>
        <a:solidFill xmlns:a="http://schemas.openxmlformats.org/drawingml/2006/main">
          <a:srgbClr val="F5F3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DF215A9A-F53D-4EB9-8ECF-E78074967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66c0aaede9247d9"/>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EFCE0FC-938A-4866-AEF8-8DD401178D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7424676-6E86-413A-BFDF-5B46B8DFCB72}"/>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B2ECC"/>
                </a:solidFill>
              </a:defRPr>
            </a:pPr>
            <a:r>
              <a:rPr sz="975" b="1">
                <a:solidFill>
                  <a:srgbClr val="4B2ECC"/>
                </a:solidFill>
              </a:rPr>
              <a:t>01 • MULTI-TENANT</a:t>
            </a:r>
          </a:p>
        </p:txBody>
      </p:sp>
      <p:sp>
        <p:nvSpPr>
          <p:cNvPr id="5" name="">
            <a:extLst xmlns:a="http://schemas.openxmlformats.org/drawingml/2006/main">
              <a:ext uri="{FF2B5EF4-FFF2-40B4-BE49-F238E27FC236}">
                <a16:creationId xmlns:a16="http://schemas.microsoft.com/office/drawing/2014/main" id="{A54A901B-5B18-4D24-BB73-5946B6AF13C1}"/>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4B2ECC"/>
                </a:solidFill>
              </a:defRPr>
            </a:pPr>
            <a:r>
              <a:rPr sz="975" b="1">
                <a:solidFill>
                  <a:srgbClr val="4B2ECC"/>
                </a:solidFill>
              </a:rPr>
              <a:t>02 / 05</a:t>
            </a:r>
          </a:p>
        </p:txBody>
      </p:sp>
      <p:sp>
        <p:nvSpPr>
          <p:cNvPr id="6" name="">
            <a:extLst xmlns:a="http://schemas.openxmlformats.org/drawingml/2006/main">
              <a:ext uri="{FF2B5EF4-FFF2-40B4-BE49-F238E27FC236}">
                <a16:creationId xmlns:a16="http://schemas.microsoft.com/office/drawing/2014/main" id="{6F385284-692C-4605-B534-ACC49255D4CB}"/>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81767FE-8A68-4974-8FBA-0954D4128ECE}"/>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6D4AFF"/>
          </a:solidFill>
          <a:ln xmlns:a="http://schemas.openxmlformats.org/drawingml/2006/main" w="19050">
            <a:solidFill>
              <a:srgbClr val="172033"/>
            </a:solidFill>
            <a:prstDash val="solid"/>
          </a:ln>
        </p:spPr>
      </p:sp>
      <p:sp>
        <p:nvSpPr>
          <p:cNvPr id="8" name="">
            <a:extLst xmlns:a="http://schemas.openxmlformats.org/drawingml/2006/main">
              <a:ext uri="{FF2B5EF4-FFF2-40B4-BE49-F238E27FC236}">
                <a16:creationId xmlns:a16="http://schemas.microsoft.com/office/drawing/2014/main" id="{31EF3FB2-C645-4E38-ADB9-FBF3F62A21D2}"/>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33"/>
                </a:solidFill>
              </a:defRPr>
            </a:pPr>
            <a:r>
              <a:rPr sz="3000" b="1">
                <a:solidFill>
                  <a:srgbClr val="172033"/>
                </a:solidFill>
              </a:rPr>
              <a:t>Đổi tenant, không đổi hệ thống</a:t>
            </a:r>
          </a:p>
        </p:txBody>
      </p:sp>
      <p:sp>
        <p:nvSpPr>
          <p:cNvPr id="9" name="">
            <a:extLst xmlns:a="http://schemas.openxmlformats.org/drawingml/2006/main">
              <a:ext uri="{FF2B5EF4-FFF2-40B4-BE49-F238E27FC236}">
                <a16:creationId xmlns:a16="http://schemas.microsoft.com/office/drawing/2014/main" id="{08429B14-26C5-482C-8C24-30419F6AC9A7}"/>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D465B"/>
                </a:solidFill>
              </a:defRPr>
            </a:pPr>
            <a:r>
              <a:rPr sz="1425" b="0">
                <a:solidFill>
                  <a:srgbClr val="3D465B"/>
                </a:solidFill>
              </a:rPr>
              <a:t>Cùng endpoint /chat; public key chọn config, index và cách ứng xử đúng khách hàng.</a:t>
            </a:r>
          </a:p>
        </p:txBody>
      </p:sp>
      <p:sp>
        <p:nvSpPr>
          <p:cNvPr id="10" name="">
            <a:extLst xmlns:a="http://schemas.openxmlformats.org/drawingml/2006/main">
              <a:ext uri="{FF2B5EF4-FFF2-40B4-BE49-F238E27FC236}">
                <a16:creationId xmlns:a16="http://schemas.microsoft.com/office/drawing/2014/main" id="{B222C65A-654F-40E2-818C-A4EC70ED0EB6}"/>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1" name="">
            <a:extLst xmlns:a="http://schemas.openxmlformats.org/drawingml/2006/main">
              <a:ext uri="{FF2B5EF4-FFF2-40B4-BE49-F238E27FC236}">
                <a16:creationId xmlns:a16="http://schemas.microsoft.com/office/drawing/2014/main" id="{DE9D60BA-9EFD-4AE2-B7B9-399210A51C1E}"/>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F71683A-5553-4297-9ED7-A912646FC4B5}"/>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3" name="">
            <a:extLst xmlns:a="http://schemas.openxmlformats.org/drawingml/2006/main">
              <a:ext uri="{FF2B5EF4-FFF2-40B4-BE49-F238E27FC236}">
                <a16:creationId xmlns:a16="http://schemas.microsoft.com/office/drawing/2014/main" id="{16170DB3-8D00-4D55-8BD7-695E061E8B18}"/>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EE6CB1F-4551-4F25-A4E8-C541287AACE2}"/>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96DD8F4-2EBC-475D-9789-3C52CBCC413F}"/>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0A871AC-E213-4613-A591-937CCFD8F0BB}"/>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MIMA</a:t>
            </a:r>
          </a:p>
        </p:txBody>
      </p:sp>
      <p:sp>
        <p:nvSpPr>
          <p:cNvPr id="17" name="">
            <a:extLst xmlns:a="http://schemas.openxmlformats.org/drawingml/2006/main">
              <a:ext uri="{FF2B5EF4-FFF2-40B4-BE49-F238E27FC236}">
                <a16:creationId xmlns:a16="http://schemas.microsoft.com/office/drawing/2014/main" id="{03F40FE7-0E1F-412D-8CB4-924E47AD4ADE}"/>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Hỏi bảng giá website.</a:t>
            </a:r>
          </a:p>
          <a:p xmlns:a="http://schemas.openxmlformats.org/drawingml/2006/main">
            <a:pPr algn="l">
              <a:defRPr sz="1275" b="0">
                <a:solidFill>
                  <a:srgbClr val="172033"/>
                </a:solidFill>
              </a:defRPr>
            </a:pPr>
            <a:r>
              <a:rPr sz="1275" b="0">
                <a:solidFill>
                  <a:srgbClr val="172033"/>
                </a:solidFill>
              </a:rPr>
              <a:t>Response dùng tri thức và</a:t>
            </a:r>
          </a:p>
          <a:p xmlns:a="http://schemas.openxmlformats.org/drawingml/2006/main">
            <a:pPr algn="l">
              <a:defRPr sz="1275" b="0">
                <a:solidFill>
                  <a:srgbClr val="172033"/>
                </a:solidFill>
              </a:defRPr>
            </a:pPr>
            <a:r>
              <a:rPr sz="1275" b="0">
                <a:solidFill>
                  <a:srgbClr val="172033"/>
                </a:solidFill>
              </a:rPr>
              <a:t>nguồn của MIMA.</a:t>
            </a:r>
          </a:p>
        </p:txBody>
      </p:sp>
      <p:sp>
        <p:nvSpPr>
          <p:cNvPr id="18" name="">
            <a:extLst xmlns:a="http://schemas.openxmlformats.org/drawingml/2006/main">
              <a:ext uri="{FF2B5EF4-FFF2-40B4-BE49-F238E27FC236}">
                <a16:creationId xmlns:a16="http://schemas.microsoft.com/office/drawing/2014/main" id="{880C5E7E-09F7-4371-B8E3-35906A3CD46C}"/>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9" name="">
            <a:extLst xmlns:a="http://schemas.openxmlformats.org/drawingml/2006/main">
              <a:ext uri="{FF2B5EF4-FFF2-40B4-BE49-F238E27FC236}">
                <a16:creationId xmlns:a16="http://schemas.microsoft.com/office/drawing/2014/main" id="{6D11A2D7-3890-43F8-9616-890CB331FA18}"/>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607A135-CF22-43E5-BF5B-E07B0EE95B22}"/>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1" name="">
            <a:extLst xmlns:a="http://schemas.openxmlformats.org/drawingml/2006/main">
              <a:ext uri="{FF2B5EF4-FFF2-40B4-BE49-F238E27FC236}">
                <a16:creationId xmlns:a16="http://schemas.microsoft.com/office/drawing/2014/main" id="{C9379A2E-D094-4317-8877-7B7CA8410A35}"/>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6D4AFF"/>
          </a:solidFill>
          <a:ln xmlns:a="http://schemas.openxmlformats.org/drawingml/2006/main" w="9525">
            <a:solidFill>
              <a:srgbClr val="172033"/>
            </a:solidFill>
            <a:prstDash val="solid"/>
          </a:ln>
        </p:spPr>
      </p:sp>
      <p:sp>
        <p:nvSpPr>
          <p:cNvPr id="22" name="">
            <a:extLst xmlns:a="http://schemas.openxmlformats.org/drawingml/2006/main">
              <a:ext uri="{FF2B5EF4-FFF2-40B4-BE49-F238E27FC236}">
                <a16:creationId xmlns:a16="http://schemas.microsoft.com/office/drawing/2014/main" id="{C2331926-A4B3-48A1-BBD9-0A973032F27B}"/>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6D4AFF"/>
          </a:solidFill>
          <a:ln xmlns:a="http://schemas.openxmlformats.org/drawingml/2006/main" w="9525">
            <a:solidFill>
              <a:srgbClr val="172033"/>
            </a:solidFill>
            <a:prstDash val="solid"/>
          </a:ln>
        </p:spPr>
      </p:sp>
      <p:sp>
        <p:nvSpPr>
          <p:cNvPr id="23" name="">
            <a:extLst xmlns:a="http://schemas.openxmlformats.org/drawingml/2006/main">
              <a:ext uri="{FF2B5EF4-FFF2-40B4-BE49-F238E27FC236}">
                <a16:creationId xmlns:a16="http://schemas.microsoft.com/office/drawing/2014/main" id="{EF8CDB5D-E8C0-4535-A283-BEDC5C94F787}"/>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8EF2B8D-D44C-4128-A73E-E30227EECB7E}"/>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AI CORE</a:t>
            </a:r>
          </a:p>
        </p:txBody>
      </p:sp>
      <p:sp>
        <p:nvSpPr>
          <p:cNvPr id="25" name="">
            <a:extLst xmlns:a="http://schemas.openxmlformats.org/drawingml/2006/main">
              <a:ext uri="{FF2B5EF4-FFF2-40B4-BE49-F238E27FC236}">
                <a16:creationId xmlns:a16="http://schemas.microsoft.com/office/drawing/2014/main" id="{762A8C86-D3A5-46CF-9C40-C1452F32CA4D}"/>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Một contract</a:t>
            </a:r>
          </a:p>
          <a:p xmlns:a="http://schemas.openxmlformats.org/drawingml/2006/main">
            <a:pPr algn="l">
              <a:defRPr sz="1275" b="0">
                <a:solidFill>
                  <a:srgbClr val="172033"/>
                </a:solidFill>
              </a:defRPr>
            </a:pPr>
            <a:r>
              <a:rPr sz="1275" b="0">
                <a:solidFill>
                  <a:srgbClr val="172033"/>
                </a:solidFill>
              </a:rPr>
              <a:t>request/response, một flow</a:t>
            </a:r>
          </a:p>
          <a:p xmlns:a="http://schemas.openxmlformats.org/drawingml/2006/main">
            <a:pPr algn="l">
              <a:defRPr sz="1275" b="0">
                <a:solidFill>
                  <a:srgbClr val="172033"/>
                </a:solidFill>
              </a:defRPr>
            </a:pPr>
            <a:r>
              <a:rPr sz="1275" b="0">
                <a:solidFill>
                  <a:srgbClr val="172033"/>
                </a:solidFill>
              </a:rPr>
              <a:t>RAG, cùng trace và usage.</a:t>
            </a:r>
          </a:p>
        </p:txBody>
      </p:sp>
      <p:sp>
        <p:nvSpPr>
          <p:cNvPr id="26" name="">
            <a:extLst xmlns:a="http://schemas.openxmlformats.org/drawingml/2006/main">
              <a:ext uri="{FF2B5EF4-FFF2-40B4-BE49-F238E27FC236}">
                <a16:creationId xmlns:a16="http://schemas.microsoft.com/office/drawing/2014/main" id="{097E7272-8A3A-49FB-AB79-FCFCC9B2EC3E}"/>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7" name="">
            <a:extLst xmlns:a="http://schemas.openxmlformats.org/drawingml/2006/main">
              <a:ext uri="{FF2B5EF4-FFF2-40B4-BE49-F238E27FC236}">
                <a16:creationId xmlns:a16="http://schemas.microsoft.com/office/drawing/2014/main" id="{E60573F6-AE8A-4309-A0B4-85FF17EC066E}"/>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63798CF-36CF-409B-9BA8-1CC4CECFF5CF}"/>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9" name="">
            <a:extLst xmlns:a="http://schemas.openxmlformats.org/drawingml/2006/main">
              <a:ext uri="{FF2B5EF4-FFF2-40B4-BE49-F238E27FC236}">
                <a16:creationId xmlns:a16="http://schemas.microsoft.com/office/drawing/2014/main" id="{5129F263-BC53-48E4-BEB6-6CBD37E0F5E7}"/>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6D4AFF"/>
          </a:solidFill>
          <a:ln xmlns:a="http://schemas.openxmlformats.org/drawingml/2006/main" w="9525">
            <a:solidFill>
              <a:srgbClr val="172033"/>
            </a:solidFill>
            <a:prstDash val="solid"/>
          </a:ln>
        </p:spPr>
      </p:sp>
      <p:sp>
        <p:nvSpPr>
          <p:cNvPr id="30" name="">
            <a:extLst xmlns:a="http://schemas.openxmlformats.org/drawingml/2006/main">
              <a:ext uri="{FF2B5EF4-FFF2-40B4-BE49-F238E27FC236}">
                <a16:creationId xmlns:a16="http://schemas.microsoft.com/office/drawing/2014/main" id="{8B39547C-ADB1-40F8-B51D-4B04D1A51116}"/>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16B8A6"/>
          </a:solidFill>
          <a:ln xmlns:a="http://schemas.openxmlformats.org/drawingml/2006/main" w="9525">
            <a:solidFill>
              <a:srgbClr val="172033"/>
            </a:solidFill>
            <a:prstDash val="solid"/>
          </a:ln>
        </p:spPr>
      </p:sp>
      <p:sp>
        <p:nvSpPr>
          <p:cNvPr id="31" name="">
            <a:extLst xmlns:a="http://schemas.openxmlformats.org/drawingml/2006/main">
              <a:ext uri="{FF2B5EF4-FFF2-40B4-BE49-F238E27FC236}">
                <a16:creationId xmlns:a16="http://schemas.microsoft.com/office/drawing/2014/main" id="{E58D6881-358C-452D-AC5B-F6F93B2A0760}"/>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FF7A59"/>
          </a:solidFill>
          <a:ln xmlns:a="http://schemas.openxmlformats.org/drawingml/2006/main" w="9525">
            <a:solidFill>
              <a:srgbClr val="172033"/>
            </a:solidFill>
            <a:prstDash val="solid"/>
          </a:ln>
        </p:spPr>
      </p:sp>
      <p:sp>
        <p:nvSpPr>
          <p:cNvPr id="32" name="">
            <a:extLst xmlns:a="http://schemas.openxmlformats.org/drawingml/2006/main">
              <a:ext uri="{FF2B5EF4-FFF2-40B4-BE49-F238E27FC236}">
                <a16:creationId xmlns:a16="http://schemas.microsoft.com/office/drawing/2014/main" id="{CF0480D4-6481-4D2F-B2DA-72E5D3DD3208}"/>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PHÒNG KHÁM</a:t>
            </a:r>
          </a:p>
        </p:txBody>
      </p:sp>
      <p:sp>
        <p:nvSpPr>
          <p:cNvPr id="33" name="">
            <a:extLst xmlns:a="http://schemas.openxmlformats.org/drawingml/2006/main">
              <a:ext uri="{FF2B5EF4-FFF2-40B4-BE49-F238E27FC236}">
                <a16:creationId xmlns:a16="http://schemas.microsoft.com/office/drawing/2014/main" id="{79D77521-3A43-41F9-8BC8-543C3CB4FC6C}"/>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Đổi public key. Giọng điệu y</a:t>
            </a:r>
          </a:p>
          <a:p xmlns:a="http://schemas.openxmlformats.org/drawingml/2006/main">
            <a:pPr algn="l">
              <a:defRPr sz="1275" b="0">
                <a:solidFill>
                  <a:srgbClr val="172033"/>
                </a:solidFill>
              </a:defRPr>
            </a:pPr>
            <a:r>
              <a:rPr sz="1275" b="0">
                <a:solidFill>
                  <a:srgbClr val="172033"/>
                </a:solidFill>
              </a:rPr>
              <a:t>tế thận trọng và nguồn</a:t>
            </a:r>
          </a:p>
          <a:p xmlns:a="http://schemas.openxmlformats.org/drawingml/2006/main">
            <a:pPr algn="l">
              <a:defRPr sz="1275" b="0">
                <a:solidFill>
                  <a:srgbClr val="172033"/>
                </a:solidFill>
              </a:defRPr>
            </a:pPr>
            <a:r>
              <a:rPr sz="1275" b="0">
                <a:solidFill>
                  <a:srgbClr val="172033"/>
                </a:solidFill>
              </a:rPr>
              <a:t>riêng.</a:t>
            </a:r>
          </a:p>
        </p:txBody>
      </p:sp>
      <p:sp>
        <p:nvSpPr>
          <p:cNvPr id="34" name="">
            <a:extLst xmlns:a="http://schemas.openxmlformats.org/drawingml/2006/main">
              <a:ext uri="{FF2B5EF4-FFF2-40B4-BE49-F238E27FC236}">
                <a16:creationId xmlns:a16="http://schemas.microsoft.com/office/drawing/2014/main" id="{C33143BE-9B8B-438F-A27A-C50432FAD2DA}"/>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Nguồn: H3-01 — outputs/h3_01/onboarding_times.csv và index_catalog.json • contract.md và API /chat H3-05</a:t>
            </a:r>
          </a:p>
        </p:txBody>
      </p:sp>
    </p:spTree>
    <p:extLst>
      <p:ext uri="{BB962C8B-B14F-4D97-AF65-F5344CB8AC3E}">
        <p14:creationId xmlns:p14="http://schemas.microsoft.com/office/powerpoint/2010/main" val="874373374"/>
      </p:ext>
    </p:extLst>
  </p:cSld>
</p:sld>
</file>

<file path=ppt/slides/slide3.xml><?xml version="1.0" encoding="utf-8"?>
<p:sld xmlns:p="http://schemas.openxmlformats.org/presentationml/2006/main">
  <p:cSld>
    <p:bg>
      <p:bgPr>
        <a:solidFill xmlns:a="http://schemas.openxmlformats.org/drawingml/2006/main">
          <a:srgbClr val="F5F3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DF215A9A-F53D-4EB9-8ECF-E78074967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40c1d6c52b24ecd"/>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374CFA9-6968-4F82-A95D-D934804838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DC4CE1B-FDEE-4836-B1C0-0E43157A9525}"/>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B2ECC"/>
                </a:solidFill>
              </a:defRPr>
            </a:pPr>
            <a:r>
              <a:rPr sz="975" b="1">
                <a:solidFill>
                  <a:srgbClr val="4B2ECC"/>
                </a:solidFill>
              </a:rPr>
              <a:t>02 • SHARED CAPABILITIES</a:t>
            </a:r>
          </a:p>
        </p:txBody>
      </p:sp>
      <p:sp>
        <p:nvSpPr>
          <p:cNvPr id="5" name="">
            <a:extLst xmlns:a="http://schemas.openxmlformats.org/drawingml/2006/main">
              <a:ext uri="{FF2B5EF4-FFF2-40B4-BE49-F238E27FC236}">
                <a16:creationId xmlns:a16="http://schemas.microsoft.com/office/drawing/2014/main" id="{87936001-3C25-49D5-B65F-E26508C679F4}"/>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4B2ECC"/>
                </a:solidFill>
              </a:defRPr>
            </a:pPr>
            <a:r>
              <a:rPr sz="975" b="1">
                <a:solidFill>
                  <a:srgbClr val="4B2ECC"/>
                </a:solidFill>
              </a:rPr>
              <a:t>03 / 05</a:t>
            </a:r>
          </a:p>
        </p:txBody>
      </p:sp>
      <p:sp>
        <p:nvSpPr>
          <p:cNvPr id="6" name="">
            <a:extLst xmlns:a="http://schemas.openxmlformats.org/drawingml/2006/main">
              <a:ext uri="{FF2B5EF4-FFF2-40B4-BE49-F238E27FC236}">
                <a16:creationId xmlns:a16="http://schemas.microsoft.com/office/drawing/2014/main" id="{AB2EEF31-65FB-41AA-8380-464B5061C982}"/>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F445DE24-AC48-48B1-8285-005F1CA56637}"/>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6D4AFF"/>
          </a:solidFill>
          <a:ln xmlns:a="http://schemas.openxmlformats.org/drawingml/2006/main" w="19050">
            <a:solidFill>
              <a:srgbClr val="172033"/>
            </a:solidFill>
            <a:prstDash val="solid"/>
          </a:ln>
        </p:spPr>
      </p:sp>
      <p:sp>
        <p:nvSpPr>
          <p:cNvPr id="8" name="">
            <a:extLst xmlns:a="http://schemas.openxmlformats.org/drawingml/2006/main">
              <a:ext uri="{FF2B5EF4-FFF2-40B4-BE49-F238E27FC236}">
                <a16:creationId xmlns:a16="http://schemas.microsoft.com/office/drawing/2014/main" id="{78B143FC-A65E-4C9B-8C6F-60DA36FA5CE3}"/>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33"/>
                </a:solidFill>
              </a:defRPr>
            </a:pPr>
            <a:r>
              <a:rPr sz="3000" b="1">
                <a:solidFill>
                  <a:srgbClr val="172033"/>
                </a:solidFill>
              </a:rPr>
              <a:t>Năng lực dùng chung, kiểm soát theo policy</a:t>
            </a:r>
          </a:p>
        </p:txBody>
      </p:sp>
      <p:sp>
        <p:nvSpPr>
          <p:cNvPr id="9" name="">
            <a:extLst xmlns:a="http://schemas.openxmlformats.org/drawingml/2006/main">
              <a:ext uri="{FF2B5EF4-FFF2-40B4-BE49-F238E27FC236}">
                <a16:creationId xmlns:a16="http://schemas.microsoft.com/office/drawing/2014/main" id="{D4E67EDD-D1E1-4BA6-9B75-2BCF0F290AAA}"/>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D465B"/>
                </a:solidFill>
              </a:defRPr>
            </a:pPr>
            <a:r>
              <a:rPr sz="1425" b="0">
                <a:solidFill>
                  <a:srgbClr val="3D465B"/>
                </a:solidFill>
              </a:rPr>
              <a:t>Tool và guardrail bảo vệ giá trị dùng chung mà không trộn dữ liệu tenant.</a:t>
            </a:r>
          </a:p>
        </p:txBody>
      </p:sp>
      <p:sp>
        <p:nvSpPr>
          <p:cNvPr id="10" name="">
            <a:extLst xmlns:a="http://schemas.openxmlformats.org/drawingml/2006/main">
              <a:ext uri="{FF2B5EF4-FFF2-40B4-BE49-F238E27FC236}">
                <a16:creationId xmlns:a16="http://schemas.microsoft.com/office/drawing/2014/main" id="{96C6D21D-EB9F-420F-9505-493E23B9012A}"/>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1" name="">
            <a:extLst xmlns:a="http://schemas.openxmlformats.org/drawingml/2006/main">
              <a:ext uri="{FF2B5EF4-FFF2-40B4-BE49-F238E27FC236}">
                <a16:creationId xmlns:a16="http://schemas.microsoft.com/office/drawing/2014/main" id="{1DB9572F-3010-49CE-BCBF-964FDDB205D8}"/>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D7CDA66-EC1F-4D5C-B03F-0B9582C39355}"/>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3" name="">
            <a:extLst xmlns:a="http://schemas.openxmlformats.org/drawingml/2006/main">
              <a:ext uri="{FF2B5EF4-FFF2-40B4-BE49-F238E27FC236}">
                <a16:creationId xmlns:a16="http://schemas.microsoft.com/office/drawing/2014/main" id="{EB298B95-FAFF-4AAD-9C6A-9D4F10645068}"/>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72B9EE4-FB24-422F-BA4A-49393ABA3AEA}"/>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D5CC6F2-9A78-43B3-B489-DA3EF6DE1565}"/>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7ADC64D-1705-4039-A5D3-BF26457D8C30}"/>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TOOL TÊN MIỀN</a:t>
            </a:r>
          </a:p>
        </p:txBody>
      </p:sp>
      <p:sp>
        <p:nvSpPr>
          <p:cNvPr id="17" name="">
            <a:extLst xmlns:a="http://schemas.openxmlformats.org/drawingml/2006/main">
              <a:ext uri="{FF2B5EF4-FFF2-40B4-BE49-F238E27FC236}">
                <a16:creationId xmlns:a16="http://schemas.microsoft.com/office/drawing/2014/main" id="{9C7CA575-D8A7-4501-8820-AEE780B9039B}"/>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Dữ liệu động đi qua tool;</a:t>
            </a:r>
          </a:p>
          <a:p xmlns:a="http://schemas.openxmlformats.org/drawingml/2006/main">
            <a:pPr algn="l">
              <a:defRPr sz="1275" b="0">
                <a:solidFill>
                  <a:srgbClr val="172033"/>
                </a:solidFill>
              </a:defRPr>
            </a:pPr>
            <a:r>
              <a:rPr sz="1275" b="0">
                <a:solidFill>
                  <a:srgbClr val="172033"/>
                </a:solidFill>
              </a:rPr>
              <a:t>không chôn kết quả thời gian</a:t>
            </a:r>
          </a:p>
          <a:p xmlns:a="http://schemas.openxmlformats.org/drawingml/2006/main">
            <a:pPr algn="l">
              <a:defRPr sz="1275" b="0">
                <a:solidFill>
                  <a:srgbClr val="172033"/>
                </a:solidFill>
              </a:defRPr>
            </a:pPr>
            <a:r>
              <a:rPr sz="1275" b="0">
                <a:solidFill>
                  <a:srgbClr val="172033"/>
                </a:solidFill>
              </a:rPr>
              <a:t>thực trong RAG.</a:t>
            </a:r>
          </a:p>
        </p:txBody>
      </p:sp>
      <p:sp>
        <p:nvSpPr>
          <p:cNvPr id="18" name="">
            <a:extLst xmlns:a="http://schemas.openxmlformats.org/drawingml/2006/main">
              <a:ext uri="{FF2B5EF4-FFF2-40B4-BE49-F238E27FC236}">
                <a16:creationId xmlns:a16="http://schemas.microsoft.com/office/drawing/2014/main" id="{168B3F44-ECBB-4370-84AA-D221BE192785}"/>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9" name="">
            <a:extLst xmlns:a="http://schemas.openxmlformats.org/drawingml/2006/main">
              <a:ext uri="{FF2B5EF4-FFF2-40B4-BE49-F238E27FC236}">
                <a16:creationId xmlns:a16="http://schemas.microsoft.com/office/drawing/2014/main" id="{ED5B5E79-68E5-441A-9401-52B11F086F74}"/>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A2A1C23-ADD9-4F3F-97DF-1ECBF15C2572}"/>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1" name="">
            <a:extLst xmlns:a="http://schemas.openxmlformats.org/drawingml/2006/main">
              <a:ext uri="{FF2B5EF4-FFF2-40B4-BE49-F238E27FC236}">
                <a16:creationId xmlns:a16="http://schemas.microsoft.com/office/drawing/2014/main" id="{252211FD-D935-4B8D-9213-E933E78CA2C8}"/>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6D4AFF"/>
          </a:solidFill>
          <a:ln xmlns:a="http://schemas.openxmlformats.org/drawingml/2006/main" w="9525">
            <a:solidFill>
              <a:srgbClr val="172033"/>
            </a:solidFill>
            <a:prstDash val="solid"/>
          </a:ln>
        </p:spPr>
      </p:sp>
      <p:sp>
        <p:nvSpPr>
          <p:cNvPr id="22" name="">
            <a:extLst xmlns:a="http://schemas.openxmlformats.org/drawingml/2006/main">
              <a:ext uri="{FF2B5EF4-FFF2-40B4-BE49-F238E27FC236}">
                <a16:creationId xmlns:a16="http://schemas.microsoft.com/office/drawing/2014/main" id="{4F9DDA82-21ED-4FB7-AFD4-E4FEF0CDE517}"/>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6D4AFF"/>
          </a:solidFill>
          <a:ln xmlns:a="http://schemas.openxmlformats.org/drawingml/2006/main" w="9525">
            <a:solidFill>
              <a:srgbClr val="172033"/>
            </a:solidFill>
            <a:prstDash val="solid"/>
          </a:ln>
        </p:spPr>
      </p:sp>
      <p:sp>
        <p:nvSpPr>
          <p:cNvPr id="23" name="">
            <a:extLst xmlns:a="http://schemas.openxmlformats.org/drawingml/2006/main">
              <a:ext uri="{FF2B5EF4-FFF2-40B4-BE49-F238E27FC236}">
                <a16:creationId xmlns:a16="http://schemas.microsoft.com/office/drawing/2014/main" id="{319F3B9C-1BBA-41DC-923F-AADBE336DA29}"/>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77F1CD3-18CB-4512-9D90-CFAEACCCC12C}"/>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LÕI DÙNG CHUNG</a:t>
            </a:r>
          </a:p>
        </p:txBody>
      </p:sp>
      <p:sp>
        <p:nvSpPr>
          <p:cNvPr id="25" name="">
            <a:extLst xmlns:a="http://schemas.openxmlformats.org/drawingml/2006/main">
              <a:ext uri="{FF2B5EF4-FFF2-40B4-BE49-F238E27FC236}">
                <a16:creationId xmlns:a16="http://schemas.microsoft.com/office/drawing/2014/main" id="{5C6A7EAC-1165-45A7-AB37-EE2E79F4449F}"/>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Routing, trace, usage và</a:t>
            </a:r>
          </a:p>
          <a:p xmlns:a="http://schemas.openxmlformats.org/drawingml/2006/main">
            <a:pPr algn="l">
              <a:defRPr sz="1275" b="0">
                <a:solidFill>
                  <a:srgbClr val="172033"/>
                </a:solidFill>
              </a:defRPr>
            </a:pPr>
            <a:r>
              <a:rPr sz="1275" b="0">
                <a:solidFill>
                  <a:srgbClr val="172033"/>
                </a:solidFill>
              </a:rPr>
              <a:t>contract được tái sử dụng</a:t>
            </a:r>
          </a:p>
          <a:p xmlns:a="http://schemas.openxmlformats.org/drawingml/2006/main">
            <a:pPr algn="l">
              <a:defRPr sz="1275" b="0">
                <a:solidFill>
                  <a:srgbClr val="172033"/>
                </a:solidFill>
              </a:defRPr>
            </a:pPr>
            <a:r>
              <a:rPr sz="1275" b="0">
                <a:solidFill>
                  <a:srgbClr val="172033"/>
                </a:solidFill>
              </a:rPr>
              <a:t>cho mọi tenant.</a:t>
            </a:r>
          </a:p>
        </p:txBody>
      </p:sp>
      <p:sp>
        <p:nvSpPr>
          <p:cNvPr id="26" name="">
            <a:extLst xmlns:a="http://schemas.openxmlformats.org/drawingml/2006/main">
              <a:ext uri="{FF2B5EF4-FFF2-40B4-BE49-F238E27FC236}">
                <a16:creationId xmlns:a16="http://schemas.microsoft.com/office/drawing/2014/main" id="{819B137A-773A-4E9E-84E7-6DE01FF7F052}"/>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7" name="">
            <a:extLst xmlns:a="http://schemas.openxmlformats.org/drawingml/2006/main">
              <a:ext uri="{FF2B5EF4-FFF2-40B4-BE49-F238E27FC236}">
                <a16:creationId xmlns:a16="http://schemas.microsoft.com/office/drawing/2014/main" id="{D7A2DD01-817C-4F3B-8455-789297FCFF3F}"/>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B7A2610-8C04-40E9-9399-FFDDDE100F56}"/>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9" name="">
            <a:extLst xmlns:a="http://schemas.openxmlformats.org/drawingml/2006/main">
              <a:ext uri="{FF2B5EF4-FFF2-40B4-BE49-F238E27FC236}">
                <a16:creationId xmlns:a16="http://schemas.microsoft.com/office/drawing/2014/main" id="{1A0111A3-4EF8-4A96-964A-E7F8F6481FE6}"/>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6D4AFF"/>
          </a:solidFill>
          <a:ln xmlns:a="http://schemas.openxmlformats.org/drawingml/2006/main" w="9525">
            <a:solidFill>
              <a:srgbClr val="172033"/>
            </a:solidFill>
            <a:prstDash val="solid"/>
          </a:ln>
        </p:spPr>
      </p:sp>
      <p:sp>
        <p:nvSpPr>
          <p:cNvPr id="30" name="">
            <a:extLst xmlns:a="http://schemas.openxmlformats.org/drawingml/2006/main">
              <a:ext uri="{FF2B5EF4-FFF2-40B4-BE49-F238E27FC236}">
                <a16:creationId xmlns:a16="http://schemas.microsoft.com/office/drawing/2014/main" id="{77F52E3F-E8E5-4000-B66F-2816DECAED15}"/>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16B8A6"/>
          </a:solidFill>
          <a:ln xmlns:a="http://schemas.openxmlformats.org/drawingml/2006/main" w="9525">
            <a:solidFill>
              <a:srgbClr val="172033"/>
            </a:solidFill>
            <a:prstDash val="solid"/>
          </a:ln>
        </p:spPr>
      </p:sp>
      <p:sp>
        <p:nvSpPr>
          <p:cNvPr id="31" name="">
            <a:extLst xmlns:a="http://schemas.openxmlformats.org/drawingml/2006/main">
              <a:ext uri="{FF2B5EF4-FFF2-40B4-BE49-F238E27FC236}">
                <a16:creationId xmlns:a16="http://schemas.microsoft.com/office/drawing/2014/main" id="{CFA6FFA1-7D84-4FD5-8A0D-D25597094128}"/>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FF7A59"/>
          </a:solidFill>
          <a:ln xmlns:a="http://schemas.openxmlformats.org/drawingml/2006/main" w="9525">
            <a:solidFill>
              <a:srgbClr val="172033"/>
            </a:solidFill>
            <a:prstDash val="solid"/>
          </a:ln>
        </p:spPr>
      </p:sp>
      <p:sp>
        <p:nvSpPr>
          <p:cNvPr id="32" name="">
            <a:extLst xmlns:a="http://schemas.openxmlformats.org/drawingml/2006/main">
              <a:ext uri="{FF2B5EF4-FFF2-40B4-BE49-F238E27FC236}">
                <a16:creationId xmlns:a16="http://schemas.microsoft.com/office/drawing/2014/main" id="{20A0D95A-4D90-4197-87E9-70ACB3C12EA4}"/>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GUARDRAIL</a:t>
            </a:r>
          </a:p>
        </p:txBody>
      </p:sp>
      <p:sp>
        <p:nvSpPr>
          <p:cNvPr id="33" name="">
            <a:extLst xmlns:a="http://schemas.openxmlformats.org/drawingml/2006/main">
              <a:ext uri="{FF2B5EF4-FFF2-40B4-BE49-F238E27FC236}">
                <a16:creationId xmlns:a16="http://schemas.microsoft.com/office/drawing/2014/main" id="{A032EA9D-F353-48DE-BC43-B14C087F5373}"/>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Câu injection/cam kết bị</a:t>
            </a:r>
          </a:p>
          <a:p xmlns:a="http://schemas.openxmlformats.org/drawingml/2006/main">
            <a:pPr algn="l">
              <a:defRPr sz="1275" b="0">
                <a:solidFill>
                  <a:srgbClr val="172033"/>
                </a:solidFill>
              </a:defRPr>
            </a:pPr>
            <a:r>
              <a:rPr sz="1275" b="0">
                <a:solidFill>
                  <a:srgbClr val="172033"/>
                </a:solidFill>
              </a:rPr>
              <a:t>thay bằng câu an toàn và</a:t>
            </a:r>
          </a:p>
          <a:p xmlns:a="http://schemas.openxmlformats.org/drawingml/2006/main">
            <a:pPr algn="l">
              <a:defRPr sz="1275" b="0">
                <a:solidFill>
                  <a:srgbClr val="172033"/>
                </a:solidFill>
              </a:defRPr>
            </a:pPr>
            <a:r>
              <a:rPr sz="1275" b="0">
                <a:solidFill>
                  <a:srgbClr val="172033"/>
                </a:solidFill>
              </a:rPr>
              <a:t>chuyển người thật.</a:t>
            </a:r>
          </a:p>
        </p:txBody>
      </p:sp>
      <p:sp>
        <p:nvSpPr>
          <p:cNvPr id="34" name="">
            <a:extLst xmlns:a="http://schemas.openxmlformats.org/drawingml/2006/main">
              <a:ext uri="{FF2B5EF4-FFF2-40B4-BE49-F238E27FC236}">
                <a16:creationId xmlns:a16="http://schemas.microsoft.com/office/drawing/2014/main" id="{275A8425-2758-4112-98D7-70801DAEB02F}"/>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Nguồn: H2-03 — 30/30 trap case bị chặn và chuyển người • contract.md và API /chat H3-05</a:t>
            </a:r>
          </a:p>
        </p:txBody>
      </p:sp>
    </p:spTree>
    <p:extLst>
      <p:ext uri="{BB962C8B-B14F-4D97-AF65-F5344CB8AC3E}">
        <p14:creationId xmlns:p14="http://schemas.microsoft.com/office/powerpoint/2010/main" val="1570888778"/>
      </p:ext>
    </p:extLst>
  </p:cSld>
</p:sld>
</file>

<file path=ppt/slides/slide4.xml><?xml version="1.0" encoding="utf-8"?>
<p:sld xmlns:p="http://schemas.openxmlformats.org/presentationml/2006/main">
  <p:cSld>
    <p:bg>
      <p:bgPr>
        <a:solidFill xmlns:a="http://schemas.openxmlformats.org/drawingml/2006/main">
          <a:srgbClr val="F5F3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DF215A9A-F53D-4EB9-8ECF-E78074967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12035d29e5b4f9e"/>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9C9B5A5-48EF-42FA-9EF8-091F9F350E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4118"/>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4691F2D-5D52-4E0F-93A7-F5788CA3D496}"/>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B2ECC"/>
                </a:solidFill>
              </a:defRPr>
            </a:pPr>
            <a:r>
              <a:rPr sz="975" b="1">
                <a:solidFill>
                  <a:srgbClr val="4B2ECC"/>
                </a:solidFill>
              </a:rPr>
              <a:t>03 • MEASURED, NOT GUESSED</a:t>
            </a:r>
          </a:p>
        </p:txBody>
      </p:sp>
      <p:sp>
        <p:nvSpPr>
          <p:cNvPr id="5" name="">
            <a:extLst xmlns:a="http://schemas.openxmlformats.org/drawingml/2006/main">
              <a:ext uri="{FF2B5EF4-FFF2-40B4-BE49-F238E27FC236}">
                <a16:creationId xmlns:a16="http://schemas.microsoft.com/office/drawing/2014/main" id="{F421D812-E476-4E0B-9317-18433E330208}"/>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4B2ECC"/>
                </a:solidFill>
              </a:defRPr>
            </a:pPr>
            <a:r>
              <a:rPr sz="975" b="1">
                <a:solidFill>
                  <a:srgbClr val="4B2ECC"/>
                </a:solidFill>
              </a:rPr>
              <a:t>04 / 05</a:t>
            </a:r>
          </a:p>
        </p:txBody>
      </p:sp>
      <p:sp>
        <p:nvSpPr>
          <p:cNvPr id="6" name="">
            <a:extLst xmlns:a="http://schemas.openxmlformats.org/drawingml/2006/main">
              <a:ext uri="{FF2B5EF4-FFF2-40B4-BE49-F238E27FC236}">
                <a16:creationId xmlns:a16="http://schemas.microsoft.com/office/drawing/2014/main" id="{E6C1F246-0494-4E32-830F-734D6F596057}"/>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6AAFD1D-3C61-4298-AF67-5BDBEFCC3DE6}"/>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6D4AFF"/>
          </a:solidFill>
          <a:ln xmlns:a="http://schemas.openxmlformats.org/drawingml/2006/main" w="19050">
            <a:solidFill>
              <a:srgbClr val="172033"/>
            </a:solidFill>
            <a:prstDash val="solid"/>
          </a:ln>
        </p:spPr>
      </p:sp>
      <p:sp>
        <p:nvSpPr>
          <p:cNvPr id="8" name="">
            <a:extLst xmlns:a="http://schemas.openxmlformats.org/drawingml/2006/main">
              <a:ext uri="{FF2B5EF4-FFF2-40B4-BE49-F238E27FC236}">
                <a16:creationId xmlns:a16="http://schemas.microsoft.com/office/drawing/2014/main" id="{E76DF9FD-8209-46F2-BAD9-23CD1303C374}"/>
              </a:ext>
            </a:extLst>
          </p:cNvPr>
          <p:cNvSpPr>
            <a:spLocks xmlns:a="http://schemas.openxmlformats.org/drawingml/2006/main" noGrp="1"/>
          </p:cNvSpPr>
          <p:nvPr/>
        </p:nvSpPr>
        <p:spPr>
          <a:xfrm xmlns:a="http://schemas.openxmlformats.org/drawingml/2006/main">
            <a:off x="609600" y="819150"/>
            <a:ext cx="66675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33"/>
                </a:solidFill>
              </a:defRPr>
            </a:pPr>
            <a:r>
              <a:rPr sz="3000" b="1">
                <a:solidFill>
                  <a:srgbClr val="172033"/>
                </a:solidFill>
              </a:rPr>
              <a:t>Bốn con số đã đo được</a:t>
            </a:r>
          </a:p>
        </p:txBody>
      </p:sp>
      <p:sp>
        <p:nvSpPr>
          <p:cNvPr id="9" name="">
            <a:extLst xmlns:a="http://schemas.openxmlformats.org/drawingml/2006/main">
              <a:ext uri="{FF2B5EF4-FFF2-40B4-BE49-F238E27FC236}">
                <a16:creationId xmlns:a16="http://schemas.microsoft.com/office/drawing/2014/main" id="{E78873C2-7D5B-460B-B5DA-E8B2285B6356}"/>
              </a:ext>
            </a:extLst>
          </p:cNvPr>
          <p:cNvSpPr>
            <a:spLocks xmlns:a="http://schemas.openxmlformats.org/drawingml/2006/main" noGrp="1"/>
          </p:cNvSpPr>
          <p:nvPr/>
        </p:nvSpPr>
        <p:spPr>
          <a:xfrm xmlns:a="http://schemas.openxmlformats.org/drawingml/2006/main">
            <a:off x="628650" y="2228850"/>
            <a:ext cx="6667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D465B"/>
                </a:solidFill>
              </a:defRPr>
            </a:pPr>
            <a:r>
              <a:rPr sz="1425" b="0">
                <a:solidFill>
                  <a:srgbClr val="3D465B"/>
                </a:solidFill>
              </a:rPr>
              <a:t>Cùng một run auto-routing trên bộ eval 60 câu; không ghép số từ các lần chạy khác nhau.</a:t>
            </a:r>
          </a:p>
        </p:txBody>
      </p:sp>
      <p:sp>
        <p:nvSpPr>
          <p:cNvPr id="10" name="">
            <a:extLst xmlns:a="http://schemas.openxmlformats.org/drawingml/2006/main">
              <a:ext uri="{FF2B5EF4-FFF2-40B4-BE49-F238E27FC236}">
                <a16:creationId xmlns:a16="http://schemas.microsoft.com/office/drawing/2014/main" id="{587C508D-4D6B-45F6-B611-A92E7FAF2DE8}"/>
              </a:ext>
            </a:extLst>
          </p:cNvPr>
          <p:cNvSpPr>
            <a:spLocks xmlns:a="http://schemas.openxmlformats.org/drawingml/2006/main" noGrp="1"/>
          </p:cNvSpPr>
          <p:nvPr/>
        </p:nvSpPr>
        <p:spPr>
          <a:xfrm xmlns:a="http://schemas.openxmlformats.org/drawingml/2006/main">
            <a:off x="781050" y="3848100"/>
            <a:ext cx="2514600" cy="1657350"/>
          </a:xfrm>
          <a:prstGeom xmlns:a="http://schemas.openxmlformats.org/drawingml/2006/main" prst="roundRect">
            <a:avLst>
              <a:gd name="adj" fmla="val 4598"/>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1" name="">
            <a:extLst xmlns:a="http://schemas.openxmlformats.org/drawingml/2006/main">
              <a:ext uri="{FF2B5EF4-FFF2-40B4-BE49-F238E27FC236}">
                <a16:creationId xmlns:a16="http://schemas.microsoft.com/office/drawing/2014/main" id="{CAD822E6-C744-4F3E-8531-E530AAA9A0FF}"/>
              </a:ext>
            </a:extLst>
          </p:cNvPr>
          <p:cNvSpPr>
            <a:spLocks xmlns:a="http://schemas.openxmlformats.org/drawingml/2006/main" noGrp="1"/>
          </p:cNvSpPr>
          <p:nvPr/>
        </p:nvSpPr>
        <p:spPr>
          <a:xfrm xmlns:a="http://schemas.openxmlformats.org/drawingml/2006/main">
            <a:off x="781050" y="3848100"/>
            <a:ext cx="2514600" cy="66675"/>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1053A61-FD00-44F9-816B-F52C631DB824}"/>
              </a:ext>
            </a:extLst>
          </p:cNvPr>
          <p:cNvSpPr>
            <a:spLocks xmlns:a="http://schemas.openxmlformats.org/drawingml/2006/main" noGrp="1"/>
          </p:cNvSpPr>
          <p:nvPr/>
        </p:nvSpPr>
        <p:spPr>
          <a:xfrm xmlns:a="http://schemas.openxmlformats.org/drawingml/2006/main">
            <a:off x="990600" y="4076700"/>
            <a:ext cx="2095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defRPr>
            </a:pPr>
            <a:r>
              <a:rPr sz="2550" b="1">
                <a:solidFill>
                  <a:srgbClr val="172033"/>
                </a:solidFill>
              </a:rPr>
              <a:t>5</a:t>
            </a:r>
          </a:p>
        </p:txBody>
      </p:sp>
      <p:sp>
        <p:nvSpPr>
          <p:cNvPr id="13" name="">
            <a:extLst xmlns:a="http://schemas.openxmlformats.org/drawingml/2006/main">
              <a:ext uri="{FF2B5EF4-FFF2-40B4-BE49-F238E27FC236}">
                <a16:creationId xmlns:a16="http://schemas.microsoft.com/office/drawing/2014/main" id="{AEAF6EFC-A89D-405E-867A-C2C35A7F8374}"/>
              </a:ext>
            </a:extLst>
          </p:cNvPr>
          <p:cNvSpPr>
            <a:spLocks xmlns:a="http://schemas.openxmlformats.org/drawingml/2006/main" noGrp="1"/>
          </p:cNvSpPr>
          <p:nvPr/>
        </p:nvSpPr>
        <p:spPr>
          <a:xfrm xmlns:a="http://schemas.openxmlformats.org/drawingml/2006/main">
            <a:off x="1009650" y="4629150"/>
            <a:ext cx="2057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D465B"/>
                </a:solidFill>
              </a:defRPr>
            </a:pPr>
            <a:r>
              <a:rPr sz="1200" b="0">
                <a:solidFill>
                  <a:srgbClr val="3D465B"/>
                </a:solidFill>
              </a:rPr>
              <a:t>tenant có config + index</a:t>
            </a:r>
          </a:p>
        </p:txBody>
      </p:sp>
      <p:sp>
        <p:nvSpPr>
          <p:cNvPr id="14" name="">
            <a:extLst xmlns:a="http://schemas.openxmlformats.org/drawingml/2006/main">
              <a:ext uri="{FF2B5EF4-FFF2-40B4-BE49-F238E27FC236}">
                <a16:creationId xmlns:a16="http://schemas.microsoft.com/office/drawing/2014/main" id="{4FADD938-584A-487F-8922-E6690BD7A2AD}"/>
              </a:ext>
            </a:extLst>
          </p:cNvPr>
          <p:cNvSpPr>
            <a:spLocks xmlns:a="http://schemas.openxmlformats.org/drawingml/2006/main" noGrp="1"/>
          </p:cNvSpPr>
          <p:nvPr/>
        </p:nvSpPr>
        <p:spPr>
          <a:xfrm xmlns:a="http://schemas.openxmlformats.org/drawingml/2006/main">
            <a:off x="1009650" y="5105400"/>
            <a:ext cx="2057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H3-01</a:t>
            </a:r>
          </a:p>
        </p:txBody>
      </p:sp>
      <p:sp>
        <p:nvSpPr>
          <p:cNvPr id="15" name="">
            <a:extLst xmlns:a="http://schemas.openxmlformats.org/drawingml/2006/main">
              <a:ext uri="{FF2B5EF4-FFF2-40B4-BE49-F238E27FC236}">
                <a16:creationId xmlns:a16="http://schemas.microsoft.com/office/drawing/2014/main" id="{C8AD792A-2F44-40EA-9166-C31D2ECE5D93}"/>
              </a:ext>
            </a:extLst>
          </p:cNvPr>
          <p:cNvSpPr>
            <a:spLocks xmlns:a="http://schemas.openxmlformats.org/drawingml/2006/main" noGrp="1"/>
          </p:cNvSpPr>
          <p:nvPr/>
        </p:nvSpPr>
        <p:spPr>
          <a:xfrm xmlns:a="http://schemas.openxmlformats.org/drawingml/2006/main">
            <a:off x="3486150" y="3848100"/>
            <a:ext cx="2514600" cy="1657350"/>
          </a:xfrm>
          <a:prstGeom xmlns:a="http://schemas.openxmlformats.org/drawingml/2006/main" prst="roundRect">
            <a:avLst>
              <a:gd name="adj" fmla="val 4598"/>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6" name="">
            <a:extLst xmlns:a="http://schemas.openxmlformats.org/drawingml/2006/main">
              <a:ext uri="{FF2B5EF4-FFF2-40B4-BE49-F238E27FC236}">
                <a16:creationId xmlns:a16="http://schemas.microsoft.com/office/drawing/2014/main" id="{403B119A-E325-4454-8D11-A2AE97AE52CB}"/>
              </a:ext>
            </a:extLst>
          </p:cNvPr>
          <p:cNvSpPr>
            <a:spLocks xmlns:a="http://schemas.openxmlformats.org/drawingml/2006/main" noGrp="1"/>
          </p:cNvSpPr>
          <p:nvPr/>
        </p:nvSpPr>
        <p:spPr>
          <a:xfrm xmlns:a="http://schemas.openxmlformats.org/drawingml/2006/main">
            <a:off x="3486150" y="3848100"/>
            <a:ext cx="2514600" cy="66675"/>
          </a:xfrm>
          <a:prstGeom xmlns:a="http://schemas.openxmlformats.org/drawingml/2006/main" prst="rect">
            <a:avLst/>
          </a:prstGeom>
          <a:solidFill xmlns:a="http://schemas.openxmlformats.org/drawingml/2006/main">
            <a:srgbClr val="16B8A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9D6598FD-2ADF-4D50-A917-C0BC447584A0}"/>
              </a:ext>
            </a:extLst>
          </p:cNvPr>
          <p:cNvSpPr>
            <a:spLocks xmlns:a="http://schemas.openxmlformats.org/drawingml/2006/main" noGrp="1"/>
          </p:cNvSpPr>
          <p:nvPr/>
        </p:nvSpPr>
        <p:spPr>
          <a:xfrm xmlns:a="http://schemas.openxmlformats.org/drawingml/2006/main">
            <a:off x="3695700" y="4076700"/>
            <a:ext cx="2095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defRPr>
            </a:pPr>
            <a:r>
              <a:rPr sz="2550" b="1">
                <a:solidFill>
                  <a:srgbClr val="172033"/>
                </a:solidFill>
              </a:rPr>
              <a:t>79,66%</a:t>
            </a:r>
          </a:p>
        </p:txBody>
      </p:sp>
      <p:sp>
        <p:nvSpPr>
          <p:cNvPr id="18" name="">
            <a:extLst xmlns:a="http://schemas.openxmlformats.org/drawingml/2006/main">
              <a:ext uri="{FF2B5EF4-FFF2-40B4-BE49-F238E27FC236}">
                <a16:creationId xmlns:a16="http://schemas.microsoft.com/office/drawing/2014/main" id="{411B79E4-9597-49D7-BAB5-465BD69F40E5}"/>
              </a:ext>
            </a:extLst>
          </p:cNvPr>
          <p:cNvSpPr>
            <a:spLocks xmlns:a="http://schemas.openxmlformats.org/drawingml/2006/main" noGrp="1"/>
          </p:cNvSpPr>
          <p:nvPr/>
        </p:nvSpPr>
        <p:spPr>
          <a:xfrm xmlns:a="http://schemas.openxmlformats.org/drawingml/2006/main">
            <a:off x="3714750" y="4629150"/>
            <a:ext cx="2057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D465B"/>
                </a:solidFill>
              </a:defRPr>
            </a:pPr>
            <a:r>
              <a:rPr sz="1200" b="0">
                <a:solidFill>
                  <a:srgbClr val="3D465B"/>
                </a:solidFill>
              </a:rPr>
              <a:t>tỷ lệ đúng trên eval</a:t>
            </a:r>
          </a:p>
        </p:txBody>
      </p:sp>
      <p:sp>
        <p:nvSpPr>
          <p:cNvPr id="19" name="">
            <a:extLst xmlns:a="http://schemas.openxmlformats.org/drawingml/2006/main">
              <a:ext uri="{FF2B5EF4-FFF2-40B4-BE49-F238E27FC236}">
                <a16:creationId xmlns:a16="http://schemas.microsoft.com/office/drawing/2014/main" id="{DBEE339A-3C83-4F73-8106-A6434BA5B7AF}"/>
              </a:ext>
            </a:extLst>
          </p:cNvPr>
          <p:cNvSpPr>
            <a:spLocks xmlns:a="http://schemas.openxmlformats.org/drawingml/2006/main" noGrp="1"/>
          </p:cNvSpPr>
          <p:nvPr/>
        </p:nvSpPr>
        <p:spPr>
          <a:xfrm xmlns:a="http://schemas.openxmlformats.org/drawingml/2006/main">
            <a:off x="3714750" y="5105400"/>
            <a:ext cx="2057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60 câu</a:t>
            </a:r>
          </a:p>
        </p:txBody>
      </p:sp>
      <p:sp>
        <p:nvSpPr>
          <p:cNvPr id="20" name="">
            <a:extLst xmlns:a="http://schemas.openxmlformats.org/drawingml/2006/main">
              <a:ext uri="{FF2B5EF4-FFF2-40B4-BE49-F238E27FC236}">
                <a16:creationId xmlns:a16="http://schemas.microsoft.com/office/drawing/2014/main" id="{A04FEB11-1E82-4723-93CE-DCABF6DF4A7A}"/>
              </a:ext>
            </a:extLst>
          </p:cNvPr>
          <p:cNvSpPr>
            <a:spLocks xmlns:a="http://schemas.openxmlformats.org/drawingml/2006/main" noGrp="1"/>
          </p:cNvSpPr>
          <p:nvPr/>
        </p:nvSpPr>
        <p:spPr>
          <a:xfrm xmlns:a="http://schemas.openxmlformats.org/drawingml/2006/main">
            <a:off x="6191250" y="3848100"/>
            <a:ext cx="2514600" cy="1657350"/>
          </a:xfrm>
          <a:prstGeom xmlns:a="http://schemas.openxmlformats.org/drawingml/2006/main" prst="roundRect">
            <a:avLst>
              <a:gd name="adj" fmla="val 4598"/>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1" name="">
            <a:extLst xmlns:a="http://schemas.openxmlformats.org/drawingml/2006/main">
              <a:ext uri="{FF2B5EF4-FFF2-40B4-BE49-F238E27FC236}">
                <a16:creationId xmlns:a16="http://schemas.microsoft.com/office/drawing/2014/main" id="{5CB31D9B-6B5D-481B-BA8C-A9A7644E57AA}"/>
              </a:ext>
            </a:extLst>
          </p:cNvPr>
          <p:cNvSpPr>
            <a:spLocks xmlns:a="http://schemas.openxmlformats.org/drawingml/2006/main" noGrp="1"/>
          </p:cNvSpPr>
          <p:nvPr/>
        </p:nvSpPr>
        <p:spPr>
          <a:xfrm xmlns:a="http://schemas.openxmlformats.org/drawingml/2006/main">
            <a:off x="6191250" y="3848100"/>
            <a:ext cx="2514600" cy="66675"/>
          </a:xfrm>
          <a:prstGeom xmlns:a="http://schemas.openxmlformats.org/drawingml/2006/main" prst="rect">
            <a:avLst/>
          </a:prstGeom>
          <a:solidFill xmlns:a="http://schemas.openxmlformats.org/drawingml/2006/main">
            <a:srgbClr val="FF7A59"/>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3B3EB6E-8161-4CEF-9316-E5D6D8B4CD7E}"/>
              </a:ext>
            </a:extLst>
          </p:cNvPr>
          <p:cNvSpPr>
            <a:spLocks xmlns:a="http://schemas.openxmlformats.org/drawingml/2006/main" noGrp="1"/>
          </p:cNvSpPr>
          <p:nvPr/>
        </p:nvSpPr>
        <p:spPr>
          <a:xfrm xmlns:a="http://schemas.openxmlformats.org/drawingml/2006/main">
            <a:off x="6400800" y="4076700"/>
            <a:ext cx="2095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defRPr>
            </a:pPr>
            <a:r>
              <a:rPr sz="2550" b="1">
                <a:solidFill>
                  <a:srgbClr val="172033"/>
                </a:solidFill>
              </a:rPr>
              <a:t>$0,0004216</a:t>
            </a:r>
          </a:p>
        </p:txBody>
      </p:sp>
      <p:sp>
        <p:nvSpPr>
          <p:cNvPr id="23" name="">
            <a:extLst xmlns:a="http://schemas.openxmlformats.org/drawingml/2006/main">
              <a:ext uri="{FF2B5EF4-FFF2-40B4-BE49-F238E27FC236}">
                <a16:creationId xmlns:a16="http://schemas.microsoft.com/office/drawing/2014/main" id="{78FAA9F1-BF3E-40EC-AAAC-073E7DB66990}"/>
              </a:ext>
            </a:extLst>
          </p:cNvPr>
          <p:cNvSpPr>
            <a:spLocks xmlns:a="http://schemas.openxmlformats.org/drawingml/2006/main" noGrp="1"/>
          </p:cNvSpPr>
          <p:nvPr/>
        </p:nvSpPr>
        <p:spPr>
          <a:xfrm xmlns:a="http://schemas.openxmlformats.org/drawingml/2006/main">
            <a:off x="6419850" y="4629150"/>
            <a:ext cx="2057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D465B"/>
                </a:solidFill>
              </a:defRPr>
            </a:pPr>
            <a:r>
              <a:rPr sz="1200" b="0">
                <a:solidFill>
                  <a:srgbClr val="3D465B"/>
                </a:solidFill>
              </a:rPr>
              <a:t>chi phí TB mỗi lượt</a:t>
            </a:r>
          </a:p>
        </p:txBody>
      </p:sp>
      <p:sp>
        <p:nvSpPr>
          <p:cNvPr id="24" name="">
            <a:extLst xmlns:a="http://schemas.openxmlformats.org/drawingml/2006/main">
              <a:ext uri="{FF2B5EF4-FFF2-40B4-BE49-F238E27FC236}">
                <a16:creationId xmlns:a16="http://schemas.microsoft.com/office/drawing/2014/main" id="{0C75328A-8C02-48A1-8F81-7E778A410C7C}"/>
              </a:ext>
            </a:extLst>
          </p:cNvPr>
          <p:cNvSpPr>
            <a:spLocks xmlns:a="http://schemas.openxmlformats.org/drawingml/2006/main" noGrp="1"/>
          </p:cNvSpPr>
          <p:nvPr/>
        </p:nvSpPr>
        <p:spPr>
          <a:xfrm xmlns:a="http://schemas.openxmlformats.org/drawingml/2006/main">
            <a:off x="6419850" y="5105400"/>
            <a:ext cx="2057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USD</a:t>
            </a:r>
          </a:p>
        </p:txBody>
      </p:sp>
      <p:sp>
        <p:nvSpPr>
          <p:cNvPr id="25" name="">
            <a:extLst xmlns:a="http://schemas.openxmlformats.org/drawingml/2006/main">
              <a:ext uri="{FF2B5EF4-FFF2-40B4-BE49-F238E27FC236}">
                <a16:creationId xmlns:a16="http://schemas.microsoft.com/office/drawing/2014/main" id="{01533B2E-2AAC-45C6-99BB-B5B500A65E11}"/>
              </a:ext>
            </a:extLst>
          </p:cNvPr>
          <p:cNvSpPr>
            <a:spLocks xmlns:a="http://schemas.openxmlformats.org/drawingml/2006/main" noGrp="1"/>
          </p:cNvSpPr>
          <p:nvPr/>
        </p:nvSpPr>
        <p:spPr>
          <a:xfrm xmlns:a="http://schemas.openxmlformats.org/drawingml/2006/main">
            <a:off x="8896350" y="3848100"/>
            <a:ext cx="2514600" cy="1657350"/>
          </a:xfrm>
          <a:prstGeom xmlns:a="http://schemas.openxmlformats.org/drawingml/2006/main" prst="roundRect">
            <a:avLst>
              <a:gd name="adj" fmla="val 4598"/>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6" name="">
            <a:extLst xmlns:a="http://schemas.openxmlformats.org/drawingml/2006/main">
              <a:ext uri="{FF2B5EF4-FFF2-40B4-BE49-F238E27FC236}">
                <a16:creationId xmlns:a16="http://schemas.microsoft.com/office/drawing/2014/main" id="{39A27C99-A5B8-48D6-8E9E-505B41A09289}"/>
              </a:ext>
            </a:extLst>
          </p:cNvPr>
          <p:cNvSpPr>
            <a:spLocks xmlns:a="http://schemas.openxmlformats.org/drawingml/2006/main" noGrp="1"/>
          </p:cNvSpPr>
          <p:nvPr/>
        </p:nvSpPr>
        <p:spPr>
          <a:xfrm xmlns:a="http://schemas.openxmlformats.org/drawingml/2006/main">
            <a:off x="8896350" y="3848100"/>
            <a:ext cx="2514600" cy="66675"/>
          </a:xfrm>
          <a:prstGeom xmlns:a="http://schemas.openxmlformats.org/drawingml/2006/main" prst="rect">
            <a:avLst/>
          </a:prstGeom>
          <a:solidFill xmlns:a="http://schemas.openxmlformats.org/drawingml/2006/main">
            <a:srgbClr val="4B2ECC"/>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D9FD457-C869-45A3-BBFB-861DE291EF62}"/>
              </a:ext>
            </a:extLst>
          </p:cNvPr>
          <p:cNvSpPr>
            <a:spLocks xmlns:a="http://schemas.openxmlformats.org/drawingml/2006/main" noGrp="1"/>
          </p:cNvSpPr>
          <p:nvPr/>
        </p:nvSpPr>
        <p:spPr>
          <a:xfrm xmlns:a="http://schemas.openxmlformats.org/drawingml/2006/main">
            <a:off x="9105900" y="4076700"/>
            <a:ext cx="2095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033"/>
                </a:solidFill>
              </a:defRPr>
            </a:pPr>
            <a:r>
              <a:rPr sz="2550" b="1">
                <a:solidFill>
                  <a:srgbClr val="172033"/>
                </a:solidFill>
              </a:rPr>
              <a:t>2,06 giây</a:t>
            </a:r>
          </a:p>
        </p:txBody>
      </p:sp>
      <p:sp>
        <p:nvSpPr>
          <p:cNvPr id="28" name="">
            <a:extLst xmlns:a="http://schemas.openxmlformats.org/drawingml/2006/main">
              <a:ext uri="{FF2B5EF4-FFF2-40B4-BE49-F238E27FC236}">
                <a16:creationId xmlns:a16="http://schemas.microsoft.com/office/drawing/2014/main" id="{A88F74CB-B636-4804-86E5-CF3DB5C04397}"/>
              </a:ext>
            </a:extLst>
          </p:cNvPr>
          <p:cNvSpPr>
            <a:spLocks xmlns:a="http://schemas.openxmlformats.org/drawingml/2006/main" noGrp="1"/>
          </p:cNvSpPr>
          <p:nvPr/>
        </p:nvSpPr>
        <p:spPr>
          <a:xfrm xmlns:a="http://schemas.openxmlformats.org/drawingml/2006/main">
            <a:off x="9124950" y="4629150"/>
            <a:ext cx="2057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D465B"/>
                </a:solidFill>
              </a:defRPr>
            </a:pPr>
            <a:r>
              <a:rPr sz="1200" b="0">
                <a:solidFill>
                  <a:srgbClr val="3D465B"/>
                </a:solidFill>
              </a:rPr>
              <a:t>độ trễ TB mỗi lượt</a:t>
            </a:r>
          </a:p>
        </p:txBody>
      </p:sp>
      <p:sp>
        <p:nvSpPr>
          <p:cNvPr id="29" name="">
            <a:extLst xmlns:a="http://schemas.openxmlformats.org/drawingml/2006/main">
              <a:ext uri="{FF2B5EF4-FFF2-40B4-BE49-F238E27FC236}">
                <a16:creationId xmlns:a16="http://schemas.microsoft.com/office/drawing/2014/main" id="{145F72CA-BE13-4561-AF2E-6736FD8CA6BE}"/>
              </a:ext>
            </a:extLst>
          </p:cNvPr>
          <p:cNvSpPr>
            <a:spLocks xmlns:a="http://schemas.openxmlformats.org/drawingml/2006/main" noGrp="1"/>
          </p:cNvSpPr>
          <p:nvPr/>
        </p:nvSpPr>
        <p:spPr>
          <a:xfrm xmlns:a="http://schemas.openxmlformats.org/drawingml/2006/main">
            <a:off x="9124950" y="5105400"/>
            <a:ext cx="2057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2.059,52 ms</a:t>
            </a:r>
          </a:p>
        </p:txBody>
      </p:sp>
      <p:sp>
        <p:nvSpPr>
          <p:cNvPr id="30" name="">
            <a:extLst xmlns:a="http://schemas.openxmlformats.org/drawingml/2006/main">
              <a:ext uri="{FF2B5EF4-FFF2-40B4-BE49-F238E27FC236}">
                <a16:creationId xmlns:a16="http://schemas.microsoft.com/office/drawing/2014/main" id="{B572E91B-3AA8-4DEA-A349-D1D52C81EC46}"/>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Nguồn: H3-01 — outputs/h3_01/onboarding_times.csv và index_catalog.json • H2-09 — routed run 20260821T062712.308909Z, dataset 60 câu</a:t>
            </a:r>
          </a:p>
        </p:txBody>
      </p:sp>
    </p:spTree>
    <p:extLst>
      <p:ext uri="{BB962C8B-B14F-4D97-AF65-F5344CB8AC3E}">
        <p14:creationId xmlns:p14="http://schemas.microsoft.com/office/powerpoint/2010/main" val="1997125180"/>
      </p:ext>
    </p:extLst>
  </p:cSld>
</p:sld>
</file>

<file path=ppt/slides/slide5.xml><?xml version="1.0" encoding="utf-8"?>
<p:sld xmlns:p="http://schemas.openxmlformats.org/presentationml/2006/main">
  <p:cSld>
    <p:bg>
      <p:bgPr>
        <a:solidFill xmlns:a="http://schemas.openxmlformats.org/drawingml/2006/main">
          <a:srgbClr val="F5F3F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DF215A9A-F53D-4EB9-8ECF-E78074967B2A}"/>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782ba0bd0cb4287"/>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35C33FA-2A5A-4D25-8B1D-81F6BEA0E8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F9FCC58-F2FE-4BD0-BC4B-E02F18180F5F}"/>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4B2ECC"/>
                </a:solidFill>
              </a:defRPr>
            </a:pPr>
            <a:r>
              <a:rPr sz="975" b="1">
                <a:solidFill>
                  <a:srgbClr val="4B2ECC"/>
                </a:solidFill>
              </a:rPr>
              <a:t>04 • NEXT</a:t>
            </a:r>
          </a:p>
        </p:txBody>
      </p:sp>
      <p:sp>
        <p:nvSpPr>
          <p:cNvPr id="5" name="">
            <a:extLst xmlns:a="http://schemas.openxmlformats.org/drawingml/2006/main">
              <a:ext uri="{FF2B5EF4-FFF2-40B4-BE49-F238E27FC236}">
                <a16:creationId xmlns:a16="http://schemas.microsoft.com/office/drawing/2014/main" id="{4B078896-A4DB-423C-836C-FBB737695EB7}"/>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4B2ECC"/>
                </a:solidFill>
              </a:defRPr>
            </a:pPr>
            <a:r>
              <a:rPr sz="975" b="1">
                <a:solidFill>
                  <a:srgbClr val="4B2ECC"/>
                </a:solidFill>
              </a:rPr>
              <a:t>05 / 05</a:t>
            </a:r>
          </a:p>
        </p:txBody>
      </p:sp>
      <p:sp>
        <p:nvSpPr>
          <p:cNvPr id="6" name="">
            <a:extLst xmlns:a="http://schemas.openxmlformats.org/drawingml/2006/main">
              <a:ext uri="{FF2B5EF4-FFF2-40B4-BE49-F238E27FC236}">
                <a16:creationId xmlns:a16="http://schemas.microsoft.com/office/drawing/2014/main" id="{3B36E5AB-9DDC-4728-A73E-70B0D07F64EC}"/>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91C6343-B8CB-42D2-A7C6-08FBAA6F0CAE}"/>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6D4AFF"/>
          </a:solidFill>
          <a:ln xmlns:a="http://schemas.openxmlformats.org/drawingml/2006/main" w="19050">
            <a:solidFill>
              <a:srgbClr val="172033"/>
            </a:solidFill>
            <a:prstDash val="solid"/>
          </a:ln>
        </p:spPr>
      </p:sp>
      <p:sp>
        <p:nvSpPr>
          <p:cNvPr id="8" name="">
            <a:extLst xmlns:a="http://schemas.openxmlformats.org/drawingml/2006/main">
              <a:ext uri="{FF2B5EF4-FFF2-40B4-BE49-F238E27FC236}">
                <a16:creationId xmlns:a16="http://schemas.microsoft.com/office/drawing/2014/main" id="{B5A9B6BC-6012-40E0-8CF6-587059C2EF36}"/>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72033"/>
                </a:solidFill>
              </a:defRPr>
            </a:pPr>
            <a:r>
              <a:rPr sz="3000" b="1">
                <a:solidFill>
                  <a:srgbClr val="172033"/>
                </a:solidFill>
              </a:rPr>
              <a:t>Giá trị nằm ở tenant tiếp theo</a:t>
            </a:r>
          </a:p>
        </p:txBody>
      </p:sp>
      <p:sp>
        <p:nvSpPr>
          <p:cNvPr id="9" name="">
            <a:extLst xmlns:a="http://schemas.openxmlformats.org/drawingml/2006/main">
              <a:ext uri="{FF2B5EF4-FFF2-40B4-BE49-F238E27FC236}">
                <a16:creationId xmlns:a16="http://schemas.microsoft.com/office/drawing/2014/main" id="{CE2CF147-BE53-4998-ABE0-39BB62D83BFB}"/>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D465B"/>
                </a:solidFill>
              </a:defRPr>
            </a:pPr>
            <a:r>
              <a:rPr sz="1425" b="0">
                <a:solidFill>
                  <a:srgbClr val="3D465B"/>
                </a:solidFill>
              </a:rPr>
              <a:t>Demo đã chứng minh mô hình; production thay hạ tầng sau interface đã chốt.</a:t>
            </a:r>
          </a:p>
        </p:txBody>
      </p:sp>
      <p:sp>
        <p:nvSpPr>
          <p:cNvPr id="10" name="">
            <a:extLst xmlns:a="http://schemas.openxmlformats.org/drawingml/2006/main">
              <a:ext uri="{FF2B5EF4-FFF2-40B4-BE49-F238E27FC236}">
                <a16:creationId xmlns:a16="http://schemas.microsoft.com/office/drawing/2014/main" id="{63440679-769A-4712-BC98-EDEAC3C2CB4F}"/>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1" name="">
            <a:extLst xmlns:a="http://schemas.openxmlformats.org/drawingml/2006/main">
              <a:ext uri="{FF2B5EF4-FFF2-40B4-BE49-F238E27FC236}">
                <a16:creationId xmlns:a16="http://schemas.microsoft.com/office/drawing/2014/main" id="{9064F10C-BBFF-4B42-A8D5-C375382481C7}"/>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F0DCE99-CA2F-4CF6-9560-4AF64D3C0CFB}"/>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3" name="">
            <a:extLst xmlns:a="http://schemas.openxmlformats.org/drawingml/2006/main">
              <a:ext uri="{FF2B5EF4-FFF2-40B4-BE49-F238E27FC236}">
                <a16:creationId xmlns:a16="http://schemas.microsoft.com/office/drawing/2014/main" id="{A902BF3F-3CFF-4DFD-B96A-796A5BD25AA8}"/>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085BD61-6588-4042-B6E3-ACAD56D7D4D1}"/>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9F3F7F81-3810-4BF4-ADF6-E139E6BB034C}"/>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77753EA-63CF-4C8C-9AA0-9EFAF5FFC46D}"/>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ĐÃ CHỨNG MINH</a:t>
            </a:r>
          </a:p>
        </p:txBody>
      </p:sp>
      <p:sp>
        <p:nvSpPr>
          <p:cNvPr id="17" name="">
            <a:extLst xmlns:a="http://schemas.openxmlformats.org/drawingml/2006/main">
              <a:ext uri="{FF2B5EF4-FFF2-40B4-BE49-F238E27FC236}">
                <a16:creationId xmlns:a16="http://schemas.microsoft.com/office/drawing/2014/main" id="{42285AC1-3385-474A-911B-72F8264EF8BD}"/>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Multi-tenant, cách ly dữ</a:t>
            </a:r>
          </a:p>
          <a:p xmlns:a="http://schemas.openxmlformats.org/drawingml/2006/main">
            <a:pPr algn="l">
              <a:defRPr sz="1275" b="0">
                <a:solidFill>
                  <a:srgbClr val="172033"/>
                </a:solidFill>
              </a:defRPr>
            </a:pPr>
            <a:r>
              <a:rPr sz="1275" b="0">
                <a:solidFill>
                  <a:srgbClr val="172033"/>
                </a:solidFill>
              </a:rPr>
              <a:t>liệu, API contract, tool,</a:t>
            </a:r>
          </a:p>
          <a:p xmlns:a="http://schemas.openxmlformats.org/drawingml/2006/main">
            <a:pPr algn="l">
              <a:defRPr sz="1275" b="0">
                <a:solidFill>
                  <a:srgbClr val="172033"/>
                </a:solidFill>
              </a:defRPr>
            </a:pPr>
            <a:r>
              <a:rPr sz="1275" b="0">
                <a:solidFill>
                  <a:srgbClr val="172033"/>
                </a:solidFill>
              </a:rPr>
              <a:t>guardrail và đo lường.</a:t>
            </a:r>
          </a:p>
        </p:txBody>
      </p:sp>
      <p:sp>
        <p:nvSpPr>
          <p:cNvPr id="18" name="">
            <a:extLst xmlns:a="http://schemas.openxmlformats.org/drawingml/2006/main">
              <a:ext uri="{FF2B5EF4-FFF2-40B4-BE49-F238E27FC236}">
                <a16:creationId xmlns:a16="http://schemas.microsoft.com/office/drawing/2014/main" id="{9B3EA15C-13B1-464C-AA4F-63F7853C8281}"/>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19" name="">
            <a:extLst xmlns:a="http://schemas.openxmlformats.org/drawingml/2006/main">
              <a:ext uri="{FF2B5EF4-FFF2-40B4-BE49-F238E27FC236}">
                <a16:creationId xmlns:a16="http://schemas.microsoft.com/office/drawing/2014/main" id="{3C8286CB-7696-4C60-B21F-FF4E4D60791F}"/>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5E78079-5B22-4FC7-8152-D8CA04FFAFB3}"/>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1" name="">
            <a:extLst xmlns:a="http://schemas.openxmlformats.org/drawingml/2006/main">
              <a:ext uri="{FF2B5EF4-FFF2-40B4-BE49-F238E27FC236}">
                <a16:creationId xmlns:a16="http://schemas.microsoft.com/office/drawing/2014/main" id="{9A3C5F4A-1B90-4549-B0E5-857CF3A4E2E6}"/>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6D4AFF"/>
          </a:solidFill>
          <a:ln xmlns:a="http://schemas.openxmlformats.org/drawingml/2006/main" w="9525">
            <a:solidFill>
              <a:srgbClr val="172033"/>
            </a:solidFill>
            <a:prstDash val="solid"/>
          </a:ln>
        </p:spPr>
      </p:sp>
      <p:sp>
        <p:nvSpPr>
          <p:cNvPr id="22" name="">
            <a:extLst xmlns:a="http://schemas.openxmlformats.org/drawingml/2006/main">
              <a:ext uri="{FF2B5EF4-FFF2-40B4-BE49-F238E27FC236}">
                <a16:creationId xmlns:a16="http://schemas.microsoft.com/office/drawing/2014/main" id="{B5087256-F505-4E53-A653-1687F866C3E5}"/>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6D4AFF"/>
          </a:solidFill>
          <a:ln xmlns:a="http://schemas.openxmlformats.org/drawingml/2006/main" w="9525">
            <a:solidFill>
              <a:srgbClr val="172033"/>
            </a:solidFill>
            <a:prstDash val="solid"/>
          </a:ln>
        </p:spPr>
      </p:sp>
      <p:sp>
        <p:nvSpPr>
          <p:cNvPr id="23" name="">
            <a:extLst xmlns:a="http://schemas.openxmlformats.org/drawingml/2006/main">
              <a:ext uri="{FF2B5EF4-FFF2-40B4-BE49-F238E27FC236}">
                <a16:creationId xmlns:a16="http://schemas.microsoft.com/office/drawing/2014/main" id="{A472C925-4C8D-4D71-B97F-24AFC76F135D}"/>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7203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1E6B827-BE3E-4972-80AA-C5CD11A9EFFF}"/>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HIẾU THAY HẠ TẦNG</a:t>
            </a:r>
          </a:p>
        </p:txBody>
      </p:sp>
      <p:sp>
        <p:nvSpPr>
          <p:cNvPr id="25" name="">
            <a:extLst xmlns:a="http://schemas.openxmlformats.org/drawingml/2006/main">
              <a:ext uri="{FF2B5EF4-FFF2-40B4-BE49-F238E27FC236}">
                <a16:creationId xmlns:a16="http://schemas.microsoft.com/office/drawing/2014/main" id="{B2FC8340-01CB-47C5-AEC5-1A7B0BEF5A6D}"/>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Postgres, vector store và</a:t>
            </a:r>
          </a:p>
          <a:p xmlns:a="http://schemas.openxmlformats.org/drawingml/2006/main">
            <a:pPr algn="l">
              <a:defRPr sz="1275" b="0">
                <a:solidFill>
                  <a:srgbClr val="172033"/>
                </a:solidFill>
              </a:defRPr>
            </a:pPr>
            <a:r>
              <a:rPr sz="1275" b="0">
                <a:solidFill>
                  <a:srgbClr val="172033"/>
                </a:solidFill>
              </a:rPr>
              <a:t>API production; không sửa</a:t>
            </a:r>
          </a:p>
          <a:p xmlns:a="http://schemas.openxmlformats.org/drawingml/2006/main">
            <a:pPr algn="l">
              <a:defRPr sz="1275" b="0">
                <a:solidFill>
                  <a:srgbClr val="172033"/>
                </a:solidFill>
              </a:defRPr>
            </a:pPr>
            <a:r>
              <a:rPr sz="1275" b="0">
                <a:solidFill>
                  <a:srgbClr val="172033"/>
                </a:solidFill>
              </a:rPr>
              <a:t>logic AI core.</a:t>
            </a:r>
          </a:p>
        </p:txBody>
      </p:sp>
      <p:sp>
        <p:nvSpPr>
          <p:cNvPr id="26" name="">
            <a:extLst xmlns:a="http://schemas.openxmlformats.org/drawingml/2006/main">
              <a:ext uri="{FF2B5EF4-FFF2-40B4-BE49-F238E27FC236}">
                <a16:creationId xmlns:a16="http://schemas.microsoft.com/office/drawing/2014/main" id="{76D27D20-F655-4F0F-8D36-2E2768C3EDC4}"/>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7" name="">
            <a:extLst xmlns:a="http://schemas.openxmlformats.org/drawingml/2006/main">
              <a:ext uri="{FF2B5EF4-FFF2-40B4-BE49-F238E27FC236}">
                <a16:creationId xmlns:a16="http://schemas.microsoft.com/office/drawing/2014/main" id="{4C1D3ED9-7D42-47B9-B84F-32758C86E1A5}"/>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6D4AF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BBE842B-99B7-498B-88D6-F879ACACEE11}"/>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FFFFF">
              <a:alpha val="96078"/>
            </a:srgbClr>
          </a:solidFill>
          <a:ln xmlns:a="http://schemas.openxmlformats.org/drawingml/2006/main" w="11430">
            <a:solidFill>
              <a:srgbClr val="172033"/>
            </a:solidFill>
            <a:prstDash val="solid"/>
          </a:ln>
        </p:spPr>
      </p:sp>
      <p:sp>
        <p:nvSpPr>
          <p:cNvPr id="29" name="">
            <a:extLst xmlns:a="http://schemas.openxmlformats.org/drawingml/2006/main">
              <a:ext uri="{FF2B5EF4-FFF2-40B4-BE49-F238E27FC236}">
                <a16:creationId xmlns:a16="http://schemas.microsoft.com/office/drawing/2014/main" id="{B9020BFF-8097-4C68-9400-DCC705676E6A}"/>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6D4AFF"/>
          </a:solidFill>
          <a:ln xmlns:a="http://schemas.openxmlformats.org/drawingml/2006/main" w="9525">
            <a:solidFill>
              <a:srgbClr val="172033"/>
            </a:solidFill>
            <a:prstDash val="solid"/>
          </a:ln>
        </p:spPr>
      </p:sp>
      <p:sp>
        <p:nvSpPr>
          <p:cNvPr id="30" name="">
            <a:extLst xmlns:a="http://schemas.openxmlformats.org/drawingml/2006/main">
              <a:ext uri="{FF2B5EF4-FFF2-40B4-BE49-F238E27FC236}">
                <a16:creationId xmlns:a16="http://schemas.microsoft.com/office/drawing/2014/main" id="{97E60DEE-968F-4543-BDD4-E733DB6335D6}"/>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16B8A6"/>
          </a:solidFill>
          <a:ln xmlns:a="http://schemas.openxmlformats.org/drawingml/2006/main" w="9525">
            <a:solidFill>
              <a:srgbClr val="172033"/>
            </a:solidFill>
            <a:prstDash val="solid"/>
          </a:ln>
        </p:spPr>
      </p:sp>
      <p:sp>
        <p:nvSpPr>
          <p:cNvPr id="31" name="">
            <a:extLst xmlns:a="http://schemas.openxmlformats.org/drawingml/2006/main">
              <a:ext uri="{FF2B5EF4-FFF2-40B4-BE49-F238E27FC236}">
                <a16:creationId xmlns:a16="http://schemas.microsoft.com/office/drawing/2014/main" id="{D895C01A-3276-4E4B-864F-1D8B9285A246}"/>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FF7A59"/>
          </a:solidFill>
          <a:ln xmlns:a="http://schemas.openxmlformats.org/drawingml/2006/main" w="9525">
            <a:solidFill>
              <a:srgbClr val="172033"/>
            </a:solidFill>
            <a:prstDash val="solid"/>
          </a:ln>
        </p:spPr>
      </p:sp>
      <p:sp>
        <p:nvSpPr>
          <p:cNvPr id="32" name="">
            <a:extLst xmlns:a="http://schemas.openxmlformats.org/drawingml/2006/main">
              <a:ext uri="{FF2B5EF4-FFF2-40B4-BE49-F238E27FC236}">
                <a16:creationId xmlns:a16="http://schemas.microsoft.com/office/drawing/2014/main" id="{95D93560-EDDB-4C7C-ABA3-3315D734BD12}"/>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4B2ECC"/>
                </a:solidFill>
              </a:defRPr>
            </a:pPr>
            <a:r>
              <a:rPr sz="1125" b="1">
                <a:solidFill>
                  <a:srgbClr val="4B2ECC"/>
                </a:solidFill>
              </a:rPr>
              <a:t>QUYẾT ĐỊNH TIẾP</a:t>
            </a:r>
          </a:p>
        </p:txBody>
      </p:sp>
      <p:sp>
        <p:nvSpPr>
          <p:cNvPr id="33" name="">
            <a:extLst xmlns:a="http://schemas.openxmlformats.org/drawingml/2006/main">
              <a:ext uri="{FF2B5EF4-FFF2-40B4-BE49-F238E27FC236}">
                <a16:creationId xmlns:a16="http://schemas.microsoft.com/office/drawing/2014/main" id="{6E1F4B1E-077D-45FC-B08A-CF45B16DEEF7}"/>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172033"/>
                </a:solidFill>
              </a:defRPr>
            </a:pPr>
            <a:r>
              <a:rPr sz="1275" b="0">
                <a:solidFill>
                  <a:srgbClr val="172033"/>
                </a:solidFill>
              </a:rPr>
              <a:t>Chọn tenant thật, ráp data</a:t>
            </a:r>
          </a:p>
          <a:p xmlns:a="http://schemas.openxmlformats.org/drawingml/2006/main">
            <a:pPr algn="l">
              <a:defRPr sz="1275" b="0">
                <a:solidFill>
                  <a:srgbClr val="172033"/>
                </a:solidFill>
              </a:defRPr>
            </a:pPr>
            <a:r>
              <a:rPr sz="1275" b="0">
                <a:solidFill>
                  <a:srgbClr val="172033"/>
                </a:solidFill>
              </a:rPr>
              <a:t>thật, chạy lại eval rồi</a:t>
            </a:r>
          </a:p>
          <a:p xmlns:a="http://schemas.openxmlformats.org/drawingml/2006/main">
            <a:pPr algn="l">
              <a:defRPr sz="1275" b="0">
                <a:solidFill>
                  <a:srgbClr val="172033"/>
                </a:solidFill>
              </a:defRPr>
            </a:pPr>
            <a:r>
              <a:rPr sz="1275" b="0">
                <a:solidFill>
                  <a:srgbClr val="172033"/>
                </a:solidFill>
              </a:rPr>
              <a:t>canary nội bộ.</a:t>
            </a:r>
          </a:p>
        </p:txBody>
      </p:sp>
      <p:sp>
        <p:nvSpPr>
          <p:cNvPr id="34" name="">
            <a:extLst xmlns:a="http://schemas.openxmlformats.org/drawingml/2006/main">
              <a:ext uri="{FF2B5EF4-FFF2-40B4-BE49-F238E27FC236}">
                <a16:creationId xmlns:a16="http://schemas.microsoft.com/office/drawing/2014/main" id="{246A7B0B-AA14-441D-A7BC-5E4FD7C6507E}"/>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7486"/>
                </a:solidFill>
              </a:defRPr>
            </a:pPr>
            <a:r>
              <a:rPr sz="750" b="0">
                <a:solidFill>
                  <a:srgbClr val="6D7486"/>
                </a:solidFill>
              </a:rPr>
              <a:t>Nguồn: H3-01 — outputs/h3_01/onboarding_times.csv và index_catalog.json • contract.md và API /chat H3-05</a:t>
            </a:r>
          </a:p>
        </p:txBody>
      </p:sp>
    </p:spTree>
    <p:extLst>
      <p:ext uri="{BB962C8B-B14F-4D97-AF65-F5344CB8AC3E}">
        <p14:creationId xmlns:p14="http://schemas.microsoft.com/office/powerpoint/2010/main" val="981341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2026-08-27T07:24:52.9160000Z</dcterms:created>
  <dcterms:modified xsi:type="dcterms:W3CDTF">2026-08-27T07:24:52.9160000Z</dcterms:modified>
</coreProperties>
</file>